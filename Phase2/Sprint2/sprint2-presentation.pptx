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94360"/>
            <a:ext cx="1828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891B2"/>
                </a:solidFill>
                <a:latin typeface="TH Sarabun New"/>
              </a:rPr>
              <a:t>SPRINT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TH Sarabun New"/>
              </a:rPr>
              <a:t>ออกแบบและตั้งต้นทุนฐาน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C7D2FE"/>
                </a:solidFill>
                <a:latin typeface="TH Sarabun New"/>
              </a:rPr>
              <a:t>วาง To-Be Architecture, Quality Gate และ Cost Baseline ก่อนลงมือจริง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886200"/>
            <a:ext cx="3246120" cy="1143000"/>
          </a:xfrm>
          <a:prstGeom prst="roundRect">
            <a:avLst/>
          </a:prstGeom>
          <a:solidFill>
            <a:srgbClr val="13244B"/>
          </a:solidFill>
          <a:ln>
            <a:solidFill>
              <a:srgbClr val="284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4050791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TH Sarabun New"/>
              </a:rPr>
              <a:t>13 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4498848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4E4"/>
                </a:solidFill>
                <a:latin typeface="TH Sarabun New"/>
              </a:rPr>
              <a:t>Story Points ปิดครบ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886200"/>
            <a:ext cx="3246120" cy="1143000"/>
          </a:xfrm>
          <a:prstGeom prst="roundRect">
            <a:avLst/>
          </a:prstGeom>
          <a:solidFill>
            <a:srgbClr val="13244B"/>
          </a:solidFill>
          <a:ln>
            <a:solidFill>
              <a:srgbClr val="284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4050791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TH Sarabun New"/>
              </a:rPr>
              <a:t>18,823 THB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4498848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4E4"/>
                </a:solidFill>
                <a:latin typeface="TH Sarabun New"/>
              </a:rPr>
              <a:t>Cost Baseline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3886200"/>
            <a:ext cx="3246120" cy="1143000"/>
          </a:xfrm>
          <a:prstGeom prst="roundRect">
            <a:avLst/>
          </a:prstGeom>
          <a:solidFill>
            <a:srgbClr val="13244B"/>
          </a:solidFill>
          <a:ln>
            <a:solidFill>
              <a:srgbClr val="284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8" y="4050791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TH Sarabun New"/>
              </a:rPr>
              <a:t>≥ 85%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8" y="4498848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4E4"/>
                </a:solidFill>
                <a:latin typeface="TH Sarabun New"/>
              </a:rPr>
              <a:t>Coverage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989320"/>
            <a:ext cx="4937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B8C4E4"/>
                </a:solidFill>
                <a:latin typeface="TH Sarabun New"/>
              </a:rPr>
              <a:t>Phase 2 · W5–W7 · Jira Sprint ID 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5989320"/>
            <a:ext cx="5760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50" b="0">
                <a:solidFill>
                  <a:srgbClr val="8393B6"/>
                </a:solidFill>
                <a:latin typeface="TH Sarabun New"/>
              </a:rPr>
              <a:t>Software Project Management · ข้อมูลสมมติเพื่อการเรียน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891B2"/>
                </a:solidFill>
                <a:latin typeface="TH Sarabun New"/>
              </a:rPr>
              <a:t>SPRINT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1736"/>
                </a:solidFill>
                <a:latin typeface="TH Sarabun New"/>
              </a:rPr>
              <a:t>ภาพรวมสปรินต์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10881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TH Sarabun New"/>
              </a:rPr>
              <a:t>ออกแบบสถาปัตยกรรมเป้าหมายและกำหนดกรอบคุณภาพ/งบประมาณที่ใช้ควบคุมการพัฒนาจริง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90472"/>
            <a:ext cx="11128248" cy="0"/>
          </a:xfrm>
          <a:prstGeom prst="line">
            <a:avLst/>
          </a:prstGeom>
          <a:ln w="1524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783080"/>
            <a:ext cx="2615184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783080"/>
            <a:ext cx="91440" cy="1078992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892807"/>
            <a:ext cx="229514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0891B2"/>
                </a:solidFill>
                <a:latin typeface="TH Sarabun New"/>
              </a:rPr>
              <a:t>W5–W7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386584"/>
            <a:ext cx="22951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ช่วงงาน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1783080"/>
            <a:ext cx="2615184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7288" y="1783080"/>
            <a:ext cx="91440" cy="1078992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7" y="1892807"/>
            <a:ext cx="229514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0891B2"/>
                </a:solidFill>
                <a:latin typeface="TH Sarabun New"/>
              </a:rPr>
              <a:t>13 SP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2386584"/>
            <a:ext cx="22951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ปิดครบ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83080"/>
            <a:ext cx="2615184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27648" y="1783080"/>
            <a:ext cx="91440" cy="1078992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1892807"/>
            <a:ext cx="229514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0891B2"/>
                </a:solidFill>
                <a:latin typeface="TH Sarabun New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386584"/>
            <a:ext cx="22951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Issues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08007" y="1783080"/>
            <a:ext cx="2615184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08007" y="1783080"/>
            <a:ext cx="91440" cy="1078992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36607" y="1892807"/>
            <a:ext cx="229514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0891B2"/>
                </a:solidFill>
                <a:latin typeface="TH Sarabun New"/>
              </a:rPr>
              <a:t>36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6607" y="2386584"/>
            <a:ext cx="22951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Capacity / Sprint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154680"/>
            <a:ext cx="4937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B1736"/>
                </a:solidFill>
                <a:latin typeface="TH Sarabun New"/>
              </a:rPr>
              <a:t>ทีมและความรับผิดชอบ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584448"/>
            <a:ext cx="53218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3657600"/>
            <a:ext cx="19202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11827"/>
                </a:solidFill>
                <a:latin typeface="TH Sarabun New"/>
              </a:rPr>
              <a:t>ภานุวัฒน์ ต๋าคำ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3895344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0891B2"/>
                </a:solidFill>
                <a:latin typeface="TH Sarabun New"/>
              </a:rPr>
              <a:t>PM / Developer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3657600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0">
                <a:solidFill>
                  <a:srgbClr val="64748B"/>
                </a:solidFill>
                <a:latin typeface="TH Sarabun New"/>
              </a:rPr>
              <a:t>ประมาณการต้นทุน · budget worksheet · WBS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370832"/>
            <a:ext cx="53218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4443984"/>
            <a:ext cx="19202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11827"/>
                </a:solidFill>
                <a:latin typeface="TH Sarabun New"/>
              </a:rPr>
              <a:t>เอกพันธ์ ทศทิศรังสรรค์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4681728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0891B2"/>
                </a:solidFill>
                <a:latin typeface="TH Sarabun New"/>
              </a:rPr>
              <a:t>QA / Tester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4443984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0">
                <a:solidFill>
                  <a:srgbClr val="64748B"/>
                </a:solidFill>
                <a:latin typeface="TH Sarabun New"/>
              </a:rPr>
              <a:t>กำหนด coverage และ quality gate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157216"/>
            <a:ext cx="53218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5230368"/>
            <a:ext cx="19202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11827"/>
                </a:solidFill>
                <a:latin typeface="TH Sarabun New"/>
              </a:rPr>
              <a:t>ณฐภาพ สายหล้า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" y="5468112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0891B2"/>
                </a:solidFill>
                <a:latin typeface="TH Sarabun New"/>
              </a:rPr>
              <a:t>Tech Lead / Architect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8920" y="5230368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0">
                <a:solidFill>
                  <a:srgbClr val="64748B"/>
                </a:solidFill>
                <a:latin typeface="TH Sarabun New"/>
              </a:rPr>
              <a:t>ออกแบบ To-Be และมาตรการ CI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154680"/>
            <a:ext cx="4937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B1736"/>
                </a:solidFill>
                <a:latin typeface="TH Sarabun New"/>
              </a:rPr>
              <a:t>เป้าหมายหลัก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547872"/>
            <a:ext cx="5120640" cy="22402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  <a:defRPr sz="1550">
                <a:solidFill>
                  <a:srgbClr val="111827"/>
                </a:solidFill>
                <a:latin typeface="TH Sarabun New"/>
              </a:defRPr>
            </a:pPr>
            <a:r>
              <a:t>• เทียบ As-Is กับ To-Be และประเมิน ISO 25010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550">
                <a:solidFill>
                  <a:srgbClr val="111827"/>
                </a:solidFill>
                <a:latin typeface="TH Sarabun New"/>
              </a:defRPr>
            </a:pPr>
            <a:r>
              <a:t>• ออกแบบ SQLite + Repository + Strategy + Member tier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550">
                <a:solidFill>
                  <a:srgbClr val="111827"/>
                </a:solidFill>
                <a:latin typeface="TH Sarabun New"/>
              </a:defRPr>
            </a:pPr>
            <a:r>
              <a:t>• กำหนด Communication Matrix, DoR และ DoD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550">
                <a:solidFill>
                  <a:srgbClr val="111827"/>
                </a:solidFill>
                <a:latin typeface="TH Sarabun New"/>
              </a:defRPr>
            </a:pPr>
            <a:r>
              <a:t>• อนุมัติ Cost Baseline 18,823 THB + Threshold คุมงบ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30352" y="6455664"/>
            <a:ext cx="11128248" cy="0"/>
          </a:xfrm>
          <a:prstGeom prst="line">
            <a:avLst/>
          </a:prstGeom>
          <a:ln w="1016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0352" y="6473952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TH Sarabun New"/>
              </a:rPr>
              <a:t>Source: Phase2/Sprint2/sprint2.md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55664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0891B2"/>
                </a:solidFill>
                <a:latin typeface="TH Sarabun New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891B2"/>
                </a:solidFill>
                <a:latin typeface="TH Sarabun New"/>
              </a:rPr>
              <a:t>SPRINT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1736"/>
                </a:solidFill>
                <a:latin typeface="TH Sarabun New"/>
              </a:rPr>
              <a:t>เส้นทาง W5–W7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10881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TH Sarabun New"/>
              </a:rPr>
              <a:t>เปลี่ยนจากแนวคิดสถาปัตยกรรมให้เป็นแผนที่วัดและควบคุมได้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90472"/>
            <a:ext cx="11128248" cy="0"/>
          </a:xfrm>
          <a:prstGeom prst="line">
            <a:avLst/>
          </a:prstGeom>
          <a:ln w="1524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" y="2926080"/>
            <a:ext cx="10241280" cy="0"/>
          </a:xfrm>
          <a:prstGeom prst="line">
            <a:avLst/>
          </a:prstGeom>
          <a:ln w="38100">
            <a:solidFill>
              <a:srgbClr val="B9C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813816" y="2779776"/>
            <a:ext cx="292608" cy="292608"/>
          </a:xfrm>
          <a:prstGeom prst="ellipse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148840"/>
            <a:ext cx="1188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891B2"/>
                </a:solidFill>
                <a:latin typeface="TH Sarabun New"/>
              </a:rPr>
              <a:t>W5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82879" y="3218688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1736"/>
                </a:solidFill>
                <a:latin typeface="TH Sarabun New"/>
              </a:rPr>
              <a:t>ประเมิน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274320" y="3675887"/>
            <a:ext cx="246888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10" b="0">
                <a:solidFill>
                  <a:srgbClr val="64748B"/>
                </a:solidFill>
                <a:latin typeface="TH Sarabun New"/>
              </a:rPr>
              <a:t>As-Is / To-Be · ISO 25010 · Budget worksheet</a:t>
            </a:r>
          </a:p>
        </p:txBody>
      </p:sp>
      <p:sp>
        <p:nvSpPr>
          <p:cNvPr id="11" name="Oval 10"/>
          <p:cNvSpPr/>
          <p:nvPr/>
        </p:nvSpPr>
        <p:spPr>
          <a:xfrm>
            <a:off x="5934455" y="2779776"/>
            <a:ext cx="292608" cy="292608"/>
          </a:xfrm>
          <a:prstGeom prst="ellipse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399" y="2148840"/>
            <a:ext cx="1188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891B2"/>
                </a:solidFill>
                <a:latin typeface="TH Sarabun New"/>
              </a:rPr>
              <a:t>W6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3218688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1736"/>
                </a:solidFill>
                <a:latin typeface="TH Sarabun New"/>
              </a:rPr>
              <a:t>ออกแบบ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19" y="3675887"/>
            <a:ext cx="246888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10" b="0">
                <a:solidFill>
                  <a:srgbClr val="64748B"/>
                </a:solidFill>
                <a:latin typeface="TH Sarabun New"/>
              </a:rPr>
              <a:t>Communication Matrix · DoR/DoD · Architecture · Variance</a:t>
            </a:r>
          </a:p>
        </p:txBody>
      </p:sp>
      <p:sp>
        <p:nvSpPr>
          <p:cNvPr id="15" name="Oval 14"/>
          <p:cNvSpPr/>
          <p:nvPr/>
        </p:nvSpPr>
        <p:spPr>
          <a:xfrm>
            <a:off x="11055096" y="2779776"/>
            <a:ext cx="292608" cy="292608"/>
          </a:xfrm>
          <a:prstGeom prst="ellipse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0" y="2148840"/>
            <a:ext cx="1188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891B2"/>
                </a:solidFill>
                <a:latin typeface="TH Sarabun New"/>
              </a:rPr>
              <a:t>W7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3218688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1736"/>
                </a:solidFill>
                <a:latin typeface="TH Sarabun New"/>
              </a:rPr>
              <a:t>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3675887"/>
            <a:ext cx="246888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10" b="0">
                <a:solidFill>
                  <a:srgbClr val="64748B"/>
                </a:solidFill>
                <a:latin typeface="TH Sarabun New"/>
              </a:rPr>
              <a:t>Cost Baseline · Capacity · ISO 14598 Quality Gate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30352" y="6455664"/>
            <a:ext cx="11128248" cy="0"/>
          </a:xfrm>
          <a:prstGeom prst="line">
            <a:avLst/>
          </a:prstGeom>
          <a:ln w="1016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30352" y="6473952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TH Sarabun New"/>
              </a:rPr>
              <a:t>Source: Phase2/Sprint2/sprint2.md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55664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0891B2"/>
                </a:solidFill>
                <a:latin typeface="TH Sarabun New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891B2"/>
                </a:solidFill>
                <a:latin typeface="TH Sarabun New"/>
              </a:rPr>
              <a:t>SPRINT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1736"/>
                </a:solidFill>
                <a:latin typeface="TH Sarabun New"/>
              </a:rPr>
              <a:t>To-Be Architecture ที่ออกแบบไว้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10881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TH Sarabun New"/>
              </a:rPr>
              <a:t>แยกความรับผิดชอบและเตรียมทางย้ายจาก JSON ไป SQLite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90472"/>
            <a:ext cx="11128248" cy="0"/>
          </a:xfrm>
          <a:prstGeom prst="line">
            <a:avLst/>
          </a:prstGeom>
          <a:ln w="1524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874519"/>
            <a:ext cx="1965960" cy="1874519"/>
          </a:xfrm>
          <a:prstGeom prst="roundRect">
            <a:avLst/>
          </a:prstGeom>
          <a:solidFill>
            <a:srgbClr val="EAF2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103120"/>
            <a:ext cx="16367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TH Sarabun New"/>
              </a:rPr>
              <a:t>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24327"/>
            <a:ext cx="1563624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30" b="0">
                <a:solidFill>
                  <a:srgbClr val="64748B"/>
                </a:solidFill>
                <a:latin typeface="TH Sarabun New"/>
              </a:rPr>
              <a:t>CLI / UI
รับข้อมูลและแสดงผล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79" y="2551176"/>
            <a:ext cx="3840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TH Sarabun New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874519"/>
            <a:ext cx="2331720" cy="1874519"/>
          </a:xfrm>
          <a:prstGeom prst="roundRect">
            <a:avLst/>
          </a:prstGeom>
          <a:solidFill>
            <a:srgbClr val="E6F7FA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9272" y="2103120"/>
            <a:ext cx="20025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891B2"/>
                </a:solidFill>
                <a:latin typeface="TH Sarabun New"/>
              </a:rPr>
              <a:t>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2624327"/>
            <a:ext cx="1929384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30" b="0">
                <a:solidFill>
                  <a:srgbClr val="64748B"/>
                </a:solidFill>
                <a:latin typeface="TH Sarabun New"/>
              </a:rPr>
              <a:t>Checkout
Validation
Export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2551176"/>
            <a:ext cx="3840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TH Sarabun New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1874519"/>
            <a:ext cx="2331720" cy="1874519"/>
          </a:xfrm>
          <a:prstGeom prst="roundRect">
            <a:avLst/>
          </a:prstGeom>
          <a:solidFill>
            <a:srgbClr val="F3EE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3912" y="2103120"/>
            <a:ext cx="20025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C3AED"/>
                </a:solidFill>
                <a:latin typeface="TH Sarabun New"/>
              </a:rPr>
              <a:t>Repository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2624327"/>
            <a:ext cx="1929384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30" b="0">
                <a:solidFill>
                  <a:srgbClr val="64748B"/>
                </a:solidFill>
                <a:latin typeface="TH Sarabun New"/>
              </a:rPr>
              <a:t>ซ่อน SQL
CRUD / Summary
Parameterized 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551176"/>
            <a:ext cx="3840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TH Sarabun New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59" y="1874519"/>
            <a:ext cx="2148840" cy="1874519"/>
          </a:xfrm>
          <a:prstGeom prst="roundRect">
            <a:avLst/>
          </a:prstGeom>
          <a:solidFill>
            <a:srgbClr val="EAF7EE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1" y="2103120"/>
            <a:ext cx="181965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5803D"/>
                </a:solidFill>
                <a:latin typeface="TH Sarabun New"/>
              </a:rPr>
              <a:t>SQLite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5128" y="2624327"/>
            <a:ext cx="1746504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30" b="0">
                <a:solidFill>
                  <a:srgbClr val="64748B"/>
                </a:solidFill>
                <a:latin typeface="TH Sarabun New"/>
              </a:rPr>
              <a:t>Products
Members
Transaction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251960"/>
            <a:ext cx="10881360" cy="1325880"/>
          </a:xfrm>
          <a:prstGeom prst="roundRect">
            <a:avLst/>
          </a:prstGeom>
          <a:solidFill>
            <a:srgbClr val="EAF2FF"/>
          </a:solidFill>
          <a:ln>
            <a:solidFill>
              <a:srgbClr val="D9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443984"/>
            <a:ext cx="10332720" cy="8961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  <a:defRPr sz="1370">
                <a:solidFill>
                  <a:srgbClr val="111827"/>
                </a:solidFill>
                <a:latin typeface="TH Sarabun New"/>
              </a:defRPr>
            </a:pPr>
            <a:r>
              <a:t>• Singleton จัดการ connection · Repository ซ่อน persistence · Strategy รองรับ Member tier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370">
                <a:solidFill>
                  <a:srgbClr val="111827"/>
                </a:solidFill>
                <a:latin typeface="TH Sarabun New"/>
              </a:defRPr>
            </a:pPr>
            <a:r>
              <a:t>• แบบออกแบบนี้ถูกนำไปพัฒนาจริงใน Sprint 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30352" y="6455664"/>
            <a:ext cx="11128248" cy="0"/>
          </a:xfrm>
          <a:prstGeom prst="line">
            <a:avLst/>
          </a:prstGeom>
          <a:ln w="1016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30352" y="6473952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TH Sarabun New"/>
              </a:rPr>
              <a:t>Source: Phase2/Sprint2/sprint2.md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55664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0891B2"/>
                </a:solidFill>
                <a:latin typeface="TH Sarabun New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891B2"/>
                </a:solidFill>
                <a:latin typeface="TH Sarabun New"/>
              </a:rPr>
              <a:t>SPRINT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1736"/>
                </a:solidFill>
                <a:latin typeface="TH Sarabun New"/>
              </a:rPr>
              <a:t>ISO/IEC 25010: As-Is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10881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TH Sarabun New"/>
              </a:rPr>
              <a:t>4 มิติผ่าน · 1 มิติต้องปรับ · 3 มิติตกและต้องแก้เชิงโครงสร้าง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90472"/>
            <a:ext cx="11128248" cy="0"/>
          </a:xfrm>
          <a:prstGeom prst="line">
            <a:avLst/>
          </a:prstGeom>
          <a:ln w="1524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828800"/>
            <a:ext cx="2606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91440" cy="1078992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5803D"/>
                </a:solidFill>
                <a:latin typeface="TH Sarabun New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32304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ผ่าน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828800"/>
            <a:ext cx="2606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39" y="1828800"/>
            <a:ext cx="91440" cy="1078992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938528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EA580C"/>
                </a:solidFill>
                <a:latin typeface="TH Sarabun New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432304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ต้องปรับ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2606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828800"/>
            <a:ext cx="91440" cy="1078992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938528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B91C1C"/>
                </a:solidFill>
                <a:latin typeface="TH Sarabun New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432304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ตก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59" y="1828800"/>
            <a:ext cx="2606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81159" y="1828800"/>
            <a:ext cx="91440" cy="10789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59" y="1938528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TH Sarabun New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59" y="2432304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มิติทั้งหมด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218688"/>
            <a:ext cx="109728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456432"/>
            <a:ext cx="2743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0B1736"/>
                </a:solidFill>
                <a:latin typeface="TH Sarabun New"/>
              </a:rPr>
              <a:t>อ่านค่าร่วมกัน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858768"/>
            <a:ext cx="10241280" cy="1508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  <a:defRPr sz="1460">
                <a:solidFill>
                  <a:srgbClr val="111827"/>
                </a:solidFill>
                <a:latin typeface="TH Sarabun New"/>
              </a:defRPr>
            </a:pPr>
            <a:r>
              <a:t>• Reliability: JSON เขียนทับตรง → เป้าหมาย atomic write/SQLite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460">
                <a:solidFill>
                  <a:srgbClr val="111827"/>
                </a:solidFill>
                <a:latin typeface="TH Sarabun New"/>
              </a:defRPr>
            </a:pPr>
            <a:r>
              <a:t>• Security: เตรียม parameterized query 100% เมื่อเข้าสู่ SQL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460">
                <a:solidFill>
                  <a:srgbClr val="111827"/>
                </a:solidFill>
                <a:latin typeface="TH Sarabun New"/>
              </a:defRPr>
            </a:pPr>
            <a:r>
              <a:t>• Maintainability: Monolithic / CC 14 → เป้าหมายแยกชั้น + OOP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460">
                <a:solidFill>
                  <a:srgbClr val="111827"/>
                </a:solidFill>
                <a:latin typeface="TH Sarabun New"/>
              </a:defRPr>
            </a:pPr>
            <a:r>
              <a:t>• Usability: เพิ่ม validator และลดความซับซ้อนของเมนู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0352" y="6455664"/>
            <a:ext cx="11128248" cy="0"/>
          </a:xfrm>
          <a:prstGeom prst="line">
            <a:avLst/>
          </a:prstGeom>
          <a:ln w="1016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0352" y="6473952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TH Sarabun New"/>
              </a:rPr>
              <a:t>Source: Phase2/Sprint2/sprint2.md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55664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0891B2"/>
                </a:solidFill>
                <a:latin typeface="TH Sarabun New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891B2"/>
                </a:solidFill>
                <a:latin typeface="TH Sarabun New"/>
              </a:rPr>
              <a:t>SPRINT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1736"/>
                </a:solidFill>
                <a:latin typeface="TH Sarabun New"/>
              </a:rPr>
              <a:t>Cost Baseline และ Quality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10881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TH Sarabun New"/>
              </a:rPr>
              <a:t>ตัวเลขที่อนุมัติใน W7 ใช้เป็นฐานควบคุมงบ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90472"/>
            <a:ext cx="11128248" cy="0"/>
          </a:xfrm>
          <a:prstGeom prst="line">
            <a:avLst/>
          </a:prstGeom>
          <a:ln w="1524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828800"/>
            <a:ext cx="2606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91440" cy="10789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TH Sarabun New"/>
              </a:rPr>
              <a:t>15,000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32304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Labor (THB)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828800"/>
            <a:ext cx="2606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39" y="1828800"/>
            <a:ext cx="91440" cy="1078992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938528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0891B2"/>
                </a:solidFill>
                <a:latin typeface="TH Sarabun New"/>
              </a:rPr>
              <a:t>1,000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432304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Infra (THB)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2606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828800"/>
            <a:ext cx="91440" cy="1078992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938528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EA580C"/>
                </a:solidFill>
                <a:latin typeface="TH Sarabun New"/>
              </a:rPr>
              <a:t>2,823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432304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Reserve (THB)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59" y="1828800"/>
            <a:ext cx="2606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81159" y="1828800"/>
            <a:ext cx="91440" cy="1078992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59" y="1938528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5803D"/>
                </a:solidFill>
                <a:latin typeface="TH Sarabun New"/>
              </a:rPr>
              <a:t>18,823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59" y="2432304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Approved Total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218688"/>
            <a:ext cx="109728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456432"/>
            <a:ext cx="2743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0B1736"/>
                </a:solidFill>
                <a:latin typeface="TH Sarabun New"/>
              </a:rPr>
              <a:t>อ่านค่าร่วมกัน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858768"/>
            <a:ext cx="10241280" cy="1508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  <a:defRPr sz="1460">
                <a:solidFill>
                  <a:srgbClr val="111827"/>
                </a:solidFill>
                <a:latin typeface="TH Sarabun New"/>
              </a:defRPr>
            </a:pPr>
            <a:r>
              <a:t>• Threshold: ≤5% ปกติ · 5–10% แจ้งเตือน · &gt;10% วิกฤต/พิจารณาตัด scope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460">
                <a:solidFill>
                  <a:srgbClr val="111827"/>
                </a:solidFill>
                <a:latin typeface="TH Sarabun New"/>
              </a:defRPr>
            </a:pPr>
            <a:r>
              <a:t>• Capacity: 3 คน × 6 ชั่วโมง × 2 สัปดาห์ = 36 man-hours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460">
                <a:solidFill>
                  <a:srgbClr val="111827"/>
                </a:solidFill>
                <a:latin typeface="TH Sarabun New"/>
              </a:defRPr>
            </a:pPr>
            <a:r>
              <a:t>• Quality Gate: v(G) ≤ 8 · CBO ≤ 4 · DIT ≤ 2 · Coverage ≥ 85%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0352" y="6455664"/>
            <a:ext cx="11128248" cy="0"/>
          </a:xfrm>
          <a:prstGeom prst="line">
            <a:avLst/>
          </a:prstGeom>
          <a:ln w="1016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0352" y="6473952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TH Sarabun New"/>
              </a:rPr>
              <a:t>Source: Phase2/Sprint2/sprint2.md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55664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0891B2"/>
                </a:solidFill>
                <a:latin typeface="TH Sarabun New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891B2"/>
                </a:solidFill>
                <a:latin typeface="TH Sarabun New"/>
              </a:rPr>
              <a:t>SPRINT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1736"/>
                </a:solidFill>
                <a:latin typeface="TH Sarabun New"/>
              </a:rPr>
              <a:t>ความเสี่ยงของแผน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10881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TH Sarabun New"/>
              </a:rPr>
              <a:t>จุดที่ต้องระวังเมื่อนำ baseline ไปใช้จริง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90472"/>
            <a:ext cx="11128248" cy="0"/>
          </a:xfrm>
          <a:prstGeom prst="line">
            <a:avLst/>
          </a:prstGeom>
          <a:ln w="1524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783080"/>
            <a:ext cx="5358384" cy="1664208"/>
          </a:xfrm>
          <a:prstGeom prst="roundRect">
            <a:avLst/>
          </a:prstGeom>
          <a:solidFill>
            <a:srgbClr val="FDEC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91440" cy="1664208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29384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736"/>
                </a:solidFill>
                <a:latin typeface="TH Sarabun New"/>
              </a:rPr>
              <a:t>ตัวเลขต่างฐาน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31720"/>
            <a:ext cx="47365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64748B"/>
                </a:solidFill>
                <a:latin typeface="TH Sarabun New"/>
              </a:rPr>
              <a:t>W5 มี worksheet 39,100 THB แต่ W7 อนุมัติ 18,823 THB — ต้องระบุฐานทุกครั้ง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783080"/>
            <a:ext cx="5358384" cy="1664208"/>
          </a:xfrm>
          <a:prstGeom prst="roundRect">
            <a:avLst/>
          </a:prstGeom>
          <a:solidFill>
            <a:srgbClr val="FFF1E8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783080"/>
            <a:ext cx="91440" cy="1664208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929384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736"/>
                </a:solidFill>
                <a:latin typeface="TH Sarabun New"/>
              </a:rPr>
              <a:t>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331720"/>
            <a:ext cx="47365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64748B"/>
                </a:solidFill>
                <a:latin typeface="TH Sarabun New"/>
              </a:rPr>
              <a:t>36 man-hours ต่อ Sprint ต่ำกว่างาน evolution จริงที่พบในภายหลัง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85032"/>
            <a:ext cx="5358384" cy="1664208"/>
          </a:xfrm>
          <a:prstGeom prst="roundRect">
            <a:avLst/>
          </a:prstGeom>
          <a:solidFill>
            <a:srgbClr val="F3EE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685032"/>
            <a:ext cx="91440" cy="166420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31336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736"/>
                </a:solidFill>
                <a:latin typeface="TH Sarabun New"/>
              </a:rPr>
              <a:t>Quality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233672"/>
            <a:ext cx="47365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64748B"/>
                </a:solidFill>
                <a:latin typeface="TH Sarabun New"/>
              </a:rPr>
              <a:t>ISO 14598 ยังเป็นเป้าหมาย ต้องวัดจริงช่วง hardening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685032"/>
            <a:ext cx="5358384" cy="1664208"/>
          </a:xfrm>
          <a:prstGeom prst="roundRect">
            <a:avLst/>
          </a:prstGeom>
          <a:solidFill>
            <a:srgbClr val="E6F7FA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685032"/>
            <a:ext cx="91440" cy="1664208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831336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736"/>
                </a:solidFill>
                <a:latin typeface="TH Sarabun New"/>
              </a:rPr>
              <a:t>Cost Variance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233672"/>
            <a:ext cx="47365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64748B"/>
                </a:solidFill>
                <a:latin typeface="TH Sarabun New"/>
              </a:rPr>
              <a:t>ตัวอย่าง migration: PV/EV 2,400 แต่ AC 4,000 → CV −1,600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0352" y="6455664"/>
            <a:ext cx="11128248" cy="0"/>
          </a:xfrm>
          <a:prstGeom prst="line">
            <a:avLst/>
          </a:prstGeom>
          <a:ln w="1016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30352" y="6473952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TH Sarabun New"/>
              </a:rPr>
              <a:t>Source: Phase2/Sprint2/sprint2.md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55664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0891B2"/>
                </a:solidFill>
                <a:latin typeface="TH Sarabun New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891B2"/>
                </a:solidFill>
                <a:latin typeface="TH Sarabun New"/>
              </a:rPr>
              <a:t>SPRINT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1736"/>
                </a:solidFill>
                <a:latin typeface="TH Sarabun New"/>
              </a:rPr>
              <a:t>Sprint Review &amp;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10881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TH Sarabun New"/>
              </a:rPr>
              <a:t>สิ่งที่ยืนยันได้จากหลักฐาน และสิ่งที่ส่งต่อไปยังรอบถัดไป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90472"/>
            <a:ext cx="11128248" cy="0"/>
          </a:xfrm>
          <a:prstGeom prst="line">
            <a:avLst/>
          </a:prstGeom>
          <a:ln w="1524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783080"/>
            <a:ext cx="3493008" cy="4297680"/>
          </a:xfrm>
          <a:prstGeom prst="roundRect">
            <a:avLst/>
          </a:prstGeom>
          <a:solidFill>
            <a:srgbClr val="EAF7EE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011680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5803D"/>
                </a:solidFill>
                <a:latin typeface="TH Sarabun New"/>
              </a:rPr>
              <a:t>ส่งมอบแล้ว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542032"/>
            <a:ext cx="2971800" cy="2971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To-Be Architecture + DB design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Cost Baseline / Threshold / Capacity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Communication Matrix + DoR/DoD + Quality Gate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83080"/>
            <a:ext cx="3493008" cy="4297680"/>
          </a:xfrm>
          <a:prstGeom prst="roundRect">
            <a:avLst/>
          </a:prstGeom>
          <a:solidFill>
            <a:srgbClr val="FDEC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2011680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B91C1C"/>
                </a:solidFill>
                <a:latin typeface="TH Sarabun New"/>
              </a:rPr>
              <a:t>ความเสี่ยง/ข้อจำกัด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542032"/>
            <a:ext cx="2971800" cy="2971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งบ W5/W7 คนละฐาน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Capacity ต่ำกว่างานจริง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Quality target ยังไม่ได้วัดจริง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783080"/>
            <a:ext cx="3493008" cy="4297680"/>
          </a:xfrm>
          <a:prstGeom prst="roundRect">
            <a:avLst/>
          </a:prstGeom>
          <a:solidFill>
            <a:srgbClr val="EAF2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2011680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891B2"/>
                </a:solidFill>
                <a:latin typeface="TH Sarabun New"/>
              </a:rPr>
              <a:t>งานส่งต่อ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2542032"/>
            <a:ext cx="2971800" cy="2971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รับ CR-01 ผ่าน Impact Analysis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ติดตามด้วย Burndown / EVM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วัด ISO gate ในรอบ Hardening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0352" y="6455664"/>
            <a:ext cx="11128248" cy="0"/>
          </a:xfrm>
          <a:prstGeom prst="line">
            <a:avLst/>
          </a:prstGeom>
          <a:ln w="1016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0352" y="6473952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TH Sarabun New"/>
              </a:rPr>
              <a:t>Source: Phase2/Sprint2/sprint2.md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0891B2"/>
                </a:solidFill>
                <a:latin typeface="TH Sarabun New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
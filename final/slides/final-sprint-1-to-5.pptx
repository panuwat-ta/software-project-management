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384048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7DD3FC"/>
                </a:solidFill>
                <a:latin typeface="Noto Sans"/>
              </a:rPr>
              <a:t>SOFTWARE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6126480" cy="6583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Noto Sans"/>
              </a:rPr>
              <a:t>วิวัฒนาการระบบจัดการสินค้าคงคลัง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6035040" cy="40233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700" b="0">
                <a:solidFill>
                  <a:srgbClr val="C8D7E2"/>
                </a:solidFill>
                <a:latin typeface="Noto Sans"/>
              </a:rPr>
              <a:t>จาก CLI รุ่นแรก → SQLite → โปรแกรม Desktop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04288"/>
            <a:ext cx="589788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9FB4C0"/>
                </a:solidFill>
                <a:latin typeface="Noto Sans"/>
              </a:rPr>
              <a:t>Sprint 1–5 · ตั้งแต่เริ่มโครงการจนถึงตัวส่งมอบสุดท้าย</a:t>
            </a:r>
          </a:p>
        </p:txBody>
      </p:sp>
      <p:pic>
        <p:nvPicPr>
          <p:cNvPr id="7" name="Picture 6" descr="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731520"/>
            <a:ext cx="4590288" cy="44988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4304" y="731520"/>
            <a:ext cx="4590288" cy="4498848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4069080"/>
            <a:ext cx="1901952" cy="1005840"/>
          </a:xfrm>
          <a:prstGeom prst="roundRect">
            <a:avLst/>
          </a:prstGeom>
          <a:solidFill>
            <a:srgbClr val="173849"/>
          </a:solidFill>
          <a:ln>
            <a:solidFill>
              <a:srgbClr val="2C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97096"/>
            <a:ext cx="1609344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99432"/>
            <a:ext cx="1609344" cy="22860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919" b="0">
                <a:solidFill>
                  <a:srgbClr val="B8C8D1"/>
                </a:solidFill>
                <a:latin typeface="Noto Sans"/>
              </a:rPr>
              <a:t>Sprints ปิดครบ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7" y="4069080"/>
            <a:ext cx="1901952" cy="1005840"/>
          </a:xfrm>
          <a:prstGeom prst="roundRect">
            <a:avLst/>
          </a:prstGeom>
          <a:solidFill>
            <a:srgbClr val="173849"/>
          </a:solidFill>
          <a:ln>
            <a:solidFill>
              <a:srgbClr val="2C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1" y="4197096"/>
            <a:ext cx="1609344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"/>
              </a:rPr>
              <a:t>95 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1" y="4599432"/>
            <a:ext cx="1609344" cy="22860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919" b="0">
                <a:solidFill>
                  <a:srgbClr val="B8C8D1"/>
                </a:solidFill>
                <a:latin typeface="Noto Sans"/>
              </a:rPr>
              <a:t>Story Points รวม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4069080"/>
            <a:ext cx="1901952" cy="1005840"/>
          </a:xfrm>
          <a:prstGeom prst="roundRect">
            <a:avLst/>
          </a:prstGeom>
          <a:solidFill>
            <a:srgbClr val="173849"/>
          </a:solidFill>
          <a:ln>
            <a:solidFill>
              <a:srgbClr val="2C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4" y="4197096"/>
            <a:ext cx="1609344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"/>
              </a:rPr>
              <a:t>21 + 25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4599432"/>
            <a:ext cx="1609344" cy="22860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919" b="0">
                <a:solidFill>
                  <a:srgbClr val="B8C8D1"/>
                </a:solidFill>
                <a:latin typeface="Noto Sans"/>
              </a:rPr>
              <a:t>Current +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870448"/>
            <a:ext cx="685800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0">
                <a:solidFill>
                  <a:srgbClr val="B8C8D1"/>
                </a:solidFill>
                <a:latin typeface="Noto Sans"/>
              </a:rPr>
              <a:t>ภานุวัฒน์ ต๋าคำ · เอกพันธ์ ทศทิศรังสรรค์ · ณฐภาพ สายหล้า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870448"/>
            <a:ext cx="379476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1000" b="0">
                <a:solidFill>
                  <a:srgbClr val="8FA6B3"/>
                </a:solidFill>
                <a:latin typeface="Noto Sans"/>
              </a:rPr>
              <a:t>ข้อมูลสมมติเพื่อการเรียน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A6D9F"/>
                </a:solidFill>
                <a:latin typeface="Noto San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ทีม เป้าหมาย และขอบเขต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1 Sprint ต่อ 1 Phase · พัฒนาต่อเนื่องจากระบบเดิมจนเป็น Desktop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5047488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83664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00" b="1">
                <a:solidFill>
                  <a:srgbClr val="102A3A"/>
                </a:solidFill>
                <a:latin typeface="Noto Sans"/>
              </a:rPr>
              <a:t>ภานุวัฒน์ ต๋าคำ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85416"/>
            <a:ext cx="233172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1">
                <a:solidFill>
                  <a:srgbClr val="0A6D9F"/>
                </a:solidFill>
                <a:latin typeface="Noto Sans"/>
              </a:rPr>
              <a:t>Project Manager /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929384"/>
            <a:ext cx="2194560" cy="43891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19" b="0">
                <a:solidFill>
                  <a:srgbClr val="667B86"/>
                </a:solidFill>
                <a:latin typeface="Noto Sans"/>
              </a:rPr>
              <a:t>บริหารภาพรวม · Data · Domain ·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07791"/>
            <a:ext cx="5047488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999232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00" b="1">
                <a:solidFill>
                  <a:srgbClr val="102A3A"/>
                </a:solidFill>
                <a:latin typeface="Noto Sans"/>
              </a:rPr>
              <a:t>เอกพันธ์ ทศทิศรังสรรค์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300984"/>
            <a:ext cx="233172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1">
                <a:solidFill>
                  <a:srgbClr val="0A6D9F"/>
                </a:solidFill>
                <a:latin typeface="Noto Sans"/>
              </a:rPr>
              <a:t>QA / Tester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3044951"/>
            <a:ext cx="2194560" cy="43891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19" b="0">
                <a:solidFill>
                  <a:srgbClr val="667B86"/>
                </a:solidFill>
                <a:latin typeface="Noto Sans"/>
              </a:rPr>
              <a:t>Test Cases · Regression · Edge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23359"/>
            <a:ext cx="5047488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114799"/>
            <a:ext cx="233172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00" b="1">
                <a:solidFill>
                  <a:srgbClr val="102A3A"/>
                </a:solidFill>
                <a:latin typeface="Noto Sans"/>
              </a:rPr>
              <a:t>ณฐภาพ สายหล้า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416551"/>
            <a:ext cx="233172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1">
                <a:solidFill>
                  <a:srgbClr val="0A6D9F"/>
                </a:solidFill>
                <a:latin typeface="Noto Sans"/>
              </a:rPr>
              <a:t>Tech Lead / 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4160520"/>
            <a:ext cx="2194560" cy="43891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19" b="0">
                <a:solidFill>
                  <a:srgbClr val="667B86"/>
                </a:solidFill>
                <a:latin typeface="Noto Sans"/>
              </a:rPr>
              <a:t>Architecture · Code Review · Quality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7608" y="1792224"/>
            <a:ext cx="5376672" cy="987552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07608" y="1792224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1901952"/>
            <a:ext cx="5084064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เสถียรภาพ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249424"/>
            <a:ext cx="5084064" cy="43891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Validation · กันค่าติดลบ · ป้องกันข้อมูลเสีย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07608" y="2935224"/>
            <a:ext cx="5376672" cy="987552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07608" y="2935224"/>
            <a:ext cx="64008" cy="98755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3044952"/>
            <a:ext cx="5084064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สถาปัตยกรรม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392424"/>
            <a:ext cx="5084064" cy="43891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OOP · Repository · Strategy · แยก UI/Logic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07608" y="4078224"/>
            <a:ext cx="5376672" cy="987552"/>
          </a:xfrm>
          <a:prstGeom prst="roundRect">
            <a:avLst/>
          </a:prstGeom>
          <a:solidFill>
            <a:srgbClr val="F2EE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07608" y="4078224"/>
            <a:ext cx="64008" cy="98755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4187952"/>
            <a:ext cx="5084064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วิวัฒนาการ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4535424"/>
            <a:ext cx="5084064" cy="43891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JSON → SQLite · Member tiers · Checkout · Desktop Program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Sprint 1–5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A6D9F"/>
                </a:solidFill>
                <a:latin typeface="Noto San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เส้นทาง Sprint 1 → Sprint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ทุก Sprint ปิดแล้ว และแต่ละรอบมีหลักฐานตรวจสอบได้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2852928"/>
            <a:ext cx="10122408" cy="36576"/>
          </a:xfrm>
          <a:prstGeom prst="rect">
            <a:avLst/>
          </a:prstGeom>
          <a:solidFill>
            <a:srgbClr val="B9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724912"/>
            <a:ext cx="274320" cy="274320"/>
          </a:xfrm>
          <a:prstGeom prst="ellipse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956816"/>
            <a:ext cx="100584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0A6D9F"/>
                </a:solidFill>
                <a:latin typeface="Noto Sans"/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04288"/>
            <a:ext cx="1280160" cy="2194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W1–W4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3182112"/>
            <a:ext cx="1828800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102A3A"/>
                </a:solidFill>
                <a:latin typeface="Noto Sans"/>
              </a:rPr>
              <a:t>วางฐาน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84448"/>
            <a:ext cx="1060704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80" b="1">
                <a:solidFill>
                  <a:srgbClr val="0A6D9F"/>
                </a:solidFill>
                <a:latin typeface="Noto Sans"/>
              </a:rPr>
              <a:t>15 SP</a:t>
            </a:r>
          </a:p>
        </p:txBody>
      </p:sp>
      <p:sp>
        <p:nvSpPr>
          <p:cNvPr id="12" name="Oval 11"/>
          <p:cNvSpPr/>
          <p:nvPr/>
        </p:nvSpPr>
        <p:spPr>
          <a:xfrm>
            <a:off x="3380994" y="2724912"/>
            <a:ext cx="274320" cy="274320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5234" y="1956816"/>
            <a:ext cx="100584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0891B2"/>
                </a:solidFill>
                <a:latin typeface="Noto Sans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8074" y="2304288"/>
            <a:ext cx="1280160" cy="2194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W5–W7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3754" y="3182112"/>
            <a:ext cx="1828800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102A3A"/>
                </a:solidFill>
                <a:latin typeface="Noto Sans"/>
              </a:rPr>
              <a:t>ออกแบบ +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02" y="3584448"/>
            <a:ext cx="1060704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80" b="1">
                <a:solidFill>
                  <a:srgbClr val="0891B2"/>
                </a:solidFill>
                <a:latin typeface="Noto Sans"/>
              </a:rPr>
              <a:t>13 SP</a:t>
            </a:r>
          </a:p>
        </p:txBody>
      </p:sp>
      <p:sp>
        <p:nvSpPr>
          <p:cNvPr id="17" name="Oval 16"/>
          <p:cNvSpPr/>
          <p:nvPr/>
        </p:nvSpPr>
        <p:spPr>
          <a:xfrm>
            <a:off x="5911596" y="2724912"/>
            <a:ext cx="274320" cy="274320"/>
          </a:xfrm>
          <a:prstGeom prst="ellipse">
            <a:avLst/>
          </a:prstGeom>
          <a:solidFill>
            <a:srgbClr val="B65319"/>
          </a:solidFill>
          <a:ln>
            <a:solidFill>
              <a:srgbClr val="B6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5836" y="1956816"/>
            <a:ext cx="100584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B65319"/>
                </a:solidFill>
                <a:latin typeface="Noto Sans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8676" y="2304288"/>
            <a:ext cx="1280160" cy="2194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W8–W11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4356" y="3182112"/>
            <a:ext cx="1828800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102A3A"/>
                </a:solidFill>
                <a:latin typeface="Noto Sans"/>
              </a:rPr>
              <a:t>Change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8404" y="3584448"/>
            <a:ext cx="1060704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80" b="1">
                <a:solidFill>
                  <a:srgbClr val="B65319"/>
                </a:solidFill>
                <a:latin typeface="Noto Sans"/>
              </a:rPr>
              <a:t>16 SP</a:t>
            </a:r>
          </a:p>
        </p:txBody>
      </p:sp>
      <p:sp>
        <p:nvSpPr>
          <p:cNvPr id="22" name="Oval 21"/>
          <p:cNvSpPr/>
          <p:nvPr/>
        </p:nvSpPr>
        <p:spPr>
          <a:xfrm>
            <a:off x="8442198" y="2724912"/>
            <a:ext cx="274320" cy="274320"/>
          </a:xfrm>
          <a:prstGeom prst="ellipse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6438" y="1956816"/>
            <a:ext cx="100584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237149"/>
                </a:solidFill>
                <a:latin typeface="Noto Sans"/>
              </a:rPr>
              <a:t>S4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9278" y="2304288"/>
            <a:ext cx="1280160" cy="2194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W12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4958" y="3182112"/>
            <a:ext cx="1828800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102A3A"/>
                </a:solidFill>
                <a:latin typeface="Noto Sans"/>
              </a:rPr>
              <a:t>UAT +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9006" y="3584448"/>
            <a:ext cx="1060704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80" b="1">
                <a:solidFill>
                  <a:srgbClr val="237149"/>
                </a:solidFill>
                <a:latin typeface="Noto Sans"/>
              </a:rPr>
              <a:t>5 SP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0" y="2724912"/>
            <a:ext cx="274320" cy="274320"/>
          </a:xfrm>
          <a:prstGeom prst="ellipse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1956816"/>
            <a:ext cx="100584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6D4AFF"/>
                </a:solidFill>
                <a:latin typeface="Noto Sans"/>
              </a:rPr>
              <a:t>S5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2304288"/>
            <a:ext cx="1280160" cy="21945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Evolution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3182112"/>
            <a:ext cx="1828800" cy="34747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250" b="1">
                <a:solidFill>
                  <a:srgbClr val="102A3A"/>
                </a:solidFill>
                <a:latin typeface="Noto Sans"/>
              </a:rPr>
              <a:t>SQLite + Desktop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9608" y="3584448"/>
            <a:ext cx="1060704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80" b="1">
                <a:solidFill>
                  <a:srgbClr val="6D4AFF"/>
                </a:solidFill>
                <a:latin typeface="Noto Sans"/>
              </a:rPr>
              <a:t>46 SP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4681728"/>
            <a:ext cx="239572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74519" y="4681728"/>
            <a:ext cx="64008" cy="98755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773168"/>
            <a:ext cx="2121408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A6D9F"/>
                </a:solidFill>
                <a:latin typeface="Noto Sans"/>
              </a:rPr>
              <a:t>95 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248656"/>
            <a:ext cx="2121408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Story Points รวม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01184" y="4681728"/>
            <a:ext cx="239572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01184" y="4681728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84064" y="4773168"/>
            <a:ext cx="2121408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237149"/>
                </a:solidFill>
                <a:latin typeface="Noto Sans"/>
              </a:rPr>
              <a:t>5 /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064" y="5248656"/>
            <a:ext cx="2121408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Sprint Closed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27848" y="4681728"/>
            <a:ext cx="239572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7848" y="4681728"/>
            <a:ext cx="64008" cy="98755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0727" y="4773168"/>
            <a:ext cx="2121408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6D4AFF"/>
                </a:solidFill>
                <a:latin typeface="Noto Sans"/>
              </a:rPr>
              <a:t>12+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7" y="5248656"/>
            <a:ext cx="2121408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สัปดาห์ + Evolution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Sprint 1–5 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A6D9F"/>
                </a:solidFill>
                <a:latin typeface="Noto Sans"/>
              </a:rPr>
              <a:t>SPRINT 1 ·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จุดเริ่มต้น: ระบบเดิมแบบ Monolithic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CLI 5 เมนู · JSON เขียนทับตรง · global state · validation ยังไม่ครบ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5074920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755648"/>
            <a:ext cx="5074920" cy="3246120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16752" y="1755648"/>
            <a:ext cx="5257800" cy="914400"/>
          </a:xfrm>
          <a:prstGeom prst="roundRect">
            <a:avLst/>
          </a:prstGeom>
          <a:solidFill>
            <a:srgbClr val="FFF0F0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16752" y="1755648"/>
            <a:ext cx="64008" cy="914400"/>
          </a:xfrm>
          <a:prstGeom prst="rect">
            <a:avLst/>
          </a:prstGeom>
          <a:solidFill>
            <a:srgbClr val="A23333"/>
          </a:solidFill>
          <a:ln>
            <a:solidFill>
              <a:srgbClr val="A2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96519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ปัญหาโครงสร้าง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2212848"/>
            <a:ext cx="4965192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main() ทำทั้ง UI + Logic + Persistence ในจุดเดียว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2816352"/>
            <a:ext cx="5257800" cy="914400"/>
          </a:xfrm>
          <a:prstGeom prst="roundRect">
            <a:avLst/>
          </a:prstGeom>
          <a:solidFill>
            <a:srgbClr val="FFF3E8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6752" y="2816352"/>
            <a:ext cx="64008" cy="914400"/>
          </a:xfrm>
          <a:prstGeom prst="rect">
            <a:avLst/>
          </a:prstGeom>
          <a:solidFill>
            <a:srgbClr val="B65319"/>
          </a:solidFill>
          <a:ln>
            <a:solidFill>
              <a:srgbClr val="B6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926080"/>
            <a:ext cx="496519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ความเสี่ยงข้อมูล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3273552"/>
            <a:ext cx="4965192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เขียน data.json ทับตรงและใช้ global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3877056"/>
            <a:ext cx="5257800" cy="914400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16752" y="3877056"/>
            <a:ext cx="64008" cy="914400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3986784"/>
            <a:ext cx="496519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Baseline คุณภาพ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4334256"/>
            <a:ext cx="4965192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Pylint 7.10/10 · Cyclomatic Complexity main = 14 (C)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285232"/>
            <a:ext cx="182880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Sprint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541264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180">
                <a:solidFill>
                  <a:srgbClr val="182B36"/>
                </a:solidFill>
                <a:latin typeface="Noto Sans"/>
              </a:defRPr>
            </a:pPr>
            <a:r>
              <a:t>• Project Charter / Scope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180">
                <a:solidFill>
                  <a:srgbClr val="182B36"/>
                </a:solidFill>
                <a:latin typeface="Noto Sans"/>
              </a:defRPr>
            </a:pPr>
            <a:r>
              <a:t>• วิเคราะห์ Hotspot + Blueprint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180">
                <a:solidFill>
                  <a:srgbClr val="182B36"/>
                </a:solidFill>
                <a:latin typeface="Noto Sans"/>
              </a:defRPr>
            </a:pPr>
            <a:r>
              <a:t>• Refactor OOP + Automated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Phase1/Sprint1/sprint1.md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A6D9F"/>
                </a:solidFill>
                <a:latin typeface="Noto Sans"/>
              </a:rPr>
              <a:t>SPRINT 1 ·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Hotspot → Refactor → Automated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OOP 3 คลาส · Validation · Atomic Save · Backward Compatibility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tspot Flow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360"/>
            <a:ext cx="5532120" cy="22677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737360"/>
            <a:ext cx="5532120" cy="2267712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st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61104"/>
            <a:ext cx="5532120" cy="16642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4261104"/>
            <a:ext cx="5532120" cy="1664208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755648"/>
            <a:ext cx="4754880" cy="896112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3952" y="1755648"/>
            <a:ext cx="64008" cy="89611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865376"/>
            <a:ext cx="446227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212848"/>
            <a:ext cx="4462272" cy="34747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เก็บ state และรองรับ key เก่า n/q/p/c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2788920"/>
            <a:ext cx="4754880" cy="896112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3952" y="2788920"/>
            <a:ext cx="64008" cy="89611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2898648"/>
            <a:ext cx="446227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InventoryManager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246120"/>
            <a:ext cx="4462272" cy="34747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Business Logic + validation + atomic 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3822191"/>
            <a:ext cx="4754880" cy="896112"/>
          </a:xfrm>
          <a:prstGeom prst="roundRect">
            <a:avLst/>
          </a:prstGeom>
          <a:solidFill>
            <a:srgbClr val="F2EE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3822191"/>
            <a:ext cx="64008" cy="89611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931920"/>
            <a:ext cx="446227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InventoryCLI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279392"/>
            <a:ext cx="4462272" cy="34747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Presentation layer แยกจาก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4992624"/>
            <a:ext cx="2157984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4992624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5084064"/>
            <a:ext cx="1883664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237149"/>
                </a:solidFill>
                <a:latin typeface="Noto Sans"/>
              </a:rPr>
              <a:t>5 /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5559552"/>
            <a:ext cx="1883664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PyTest 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1392" y="4992624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51392" y="4992624"/>
            <a:ext cx="64008" cy="98755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5084064"/>
            <a:ext cx="2103120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A6D9F"/>
                </a:solidFill>
                <a:latin typeface="Noto Sans"/>
              </a:rPr>
              <a:t>15 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5559552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SPM-6…10 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Phase1/Sprint1/sprint1.md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891B2"/>
                </a:solidFill>
                <a:latin typeface="Noto Sans"/>
              </a:rPr>
              <a:t>SPRINT 2 ·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To-Be Architecture +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ออกแบบก่อนลงมือ เพื่อให้ persistence และ policy เปลี่ยนได้โดยไม่กระทบ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2432304" cy="2029968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3969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400" b="1">
                <a:solidFill>
                  <a:srgbClr val="0A6D9F"/>
                </a:solidFill>
                <a:latin typeface="Noto Sans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79192"/>
            <a:ext cx="2139696" cy="32918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70" b="1">
                <a:solidFill>
                  <a:srgbClr val="102A3A"/>
                </a:solidFill>
                <a:latin typeface="Noto Sans"/>
              </a:rPr>
              <a:t>CLI /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63824"/>
            <a:ext cx="2139696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ไม่ถือ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688336"/>
            <a:ext cx="320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000" b="1">
                <a:solidFill>
                  <a:srgbClr val="667B86"/>
                </a:solidFill>
                <a:latin typeface="Noto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938528"/>
            <a:ext cx="2432304" cy="2029968"/>
          </a:xfrm>
          <a:prstGeom prst="roundRect">
            <a:avLst/>
          </a:prstGeom>
          <a:solidFill>
            <a:srgbClr val="EAF8FB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13969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Noto Sans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679192"/>
            <a:ext cx="2139696" cy="32918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70" b="1">
                <a:solidFill>
                  <a:srgbClr val="102A3A"/>
                </a:solidFill>
                <a:latin typeface="Noto Sans"/>
              </a:rPr>
              <a:t>Checkout /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163824"/>
            <a:ext cx="2139696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Business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688336"/>
            <a:ext cx="320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000" b="1">
                <a:solidFill>
                  <a:srgbClr val="667B86"/>
                </a:solidFill>
                <a:latin typeface="Noto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938528"/>
            <a:ext cx="2432304" cy="2029968"/>
          </a:xfrm>
          <a:prstGeom prst="roundRect">
            <a:avLst/>
          </a:prstGeom>
          <a:solidFill>
            <a:srgbClr val="F2EE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13969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400" b="1">
                <a:solidFill>
                  <a:srgbClr val="6D4AFF"/>
                </a:solidFill>
                <a:latin typeface="Noto Sans"/>
              </a:rPr>
              <a:t>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679192"/>
            <a:ext cx="2139696" cy="32918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70" b="1">
                <a:solidFill>
                  <a:srgbClr val="102A3A"/>
                </a:solidFill>
                <a:latin typeface="Noto Sans"/>
              </a:rPr>
              <a:t>InventoryRepository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163824"/>
            <a:ext cx="2139696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ซ่อน CRUD /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2688336"/>
            <a:ext cx="320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000" b="1">
                <a:solidFill>
                  <a:srgbClr val="667B86"/>
                </a:solidFill>
                <a:latin typeface="Noto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1938528"/>
            <a:ext cx="2432304" cy="2029968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213969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400" b="1">
                <a:solidFill>
                  <a:srgbClr val="237149"/>
                </a:solidFill>
                <a:latin typeface="Noto Sans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679192"/>
            <a:ext cx="2139696" cy="32918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70" b="1">
                <a:solidFill>
                  <a:srgbClr val="102A3A"/>
                </a:solidFill>
                <a:latin typeface="Noto Sans"/>
              </a:rP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163824"/>
            <a:ext cx="2139696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000" b="0">
                <a:solidFill>
                  <a:srgbClr val="667B86"/>
                </a:solidFill>
                <a:latin typeface="Noto Sans"/>
              </a:rPr>
              <a:t>Transaction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26864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626864"/>
            <a:ext cx="64008" cy="98755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18303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891B2"/>
                </a:solidFill>
                <a:latin typeface="Noto Sans"/>
              </a:rPr>
              <a:t>18,823 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93792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Cost Baseline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626864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4626864"/>
            <a:ext cx="64008" cy="98755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718303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A6D9F"/>
                </a:solidFill>
                <a:latin typeface="Noto Sans"/>
              </a:rPr>
              <a:t>36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93792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Capacity / Sprint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626864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626864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718303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237149"/>
                </a:solidFill>
                <a:latin typeface="Noto Sans"/>
              </a:rPr>
              <a:t>≥85%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93792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Coverage Target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4626864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4626864"/>
            <a:ext cx="64008" cy="98755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4718303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6D4AFF"/>
                </a:solidFill>
                <a:latin typeface="Noto Sans"/>
              </a:rPr>
              <a:t>≤8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193792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CC Target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Phase2/Sprint2/sprint2.md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B65319"/>
                </a:solidFill>
                <a:latin typeface="Noto Sans"/>
              </a:rPr>
              <a:t>SPRINT 3 · 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Change Control ที่ตรวจสอบย้อนหลังได้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CR / Bug ทุกใบเชื่อม Scope, Cost, Architecture และ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10512"/>
            <a:ext cx="3429000" cy="1417320"/>
          </a:xfrm>
          <a:prstGeom prst="roundRect">
            <a:avLst/>
          </a:prstGeom>
          <a:solidFill>
            <a:srgbClr val="FFF3E8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10512"/>
            <a:ext cx="64008" cy="1417320"/>
          </a:xfrm>
          <a:prstGeom prst="rect">
            <a:avLst/>
          </a:prstGeom>
          <a:solidFill>
            <a:srgbClr val="B65319"/>
          </a:solidFill>
          <a:ln>
            <a:solidFill>
              <a:srgbClr val="B6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3639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CR-01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3136392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Barcode + Reorder Point
Impact +8 man-hours
ส่งใน v2.0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10512"/>
            <a:ext cx="3429000" cy="1417320"/>
          </a:xfrm>
          <a:prstGeom prst="roundRect">
            <a:avLst/>
          </a:prstGeom>
          <a:solidFill>
            <a:srgbClr val="EAF8FB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10512"/>
            <a:ext cx="64008" cy="1417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13639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CR-02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67712"/>
            <a:ext cx="3136392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CSV Export Fast-Track
4.5 h = 1,350 บาท
เบิกจาก Reserve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810512"/>
            <a:ext cx="342900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810512"/>
            <a:ext cx="64008" cy="1417320"/>
          </a:xfrm>
          <a:prstGeom prst="rect">
            <a:avLst/>
          </a:prstGeom>
          <a:solidFill>
            <a:srgbClr val="A23333"/>
          </a:solidFill>
          <a:ln>
            <a:solidFill>
              <a:srgbClr val="A2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920240"/>
            <a:ext cx="313639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BUG-101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267712"/>
            <a:ext cx="3136392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KeyError: barcode
fallback + regression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639312"/>
            <a:ext cx="2194560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กระบวนการ 4 ขั้น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96512"/>
            <a:ext cx="226771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224528"/>
            <a:ext cx="347472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00" b="1">
                <a:solidFill>
                  <a:srgbClr val="B65319"/>
                </a:solidFill>
                <a:latin typeface="Noto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215384"/>
            <a:ext cx="160020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50" b="1">
                <a:solidFill>
                  <a:srgbClr val="102A3A"/>
                </a:solidFill>
                <a:latin typeface="Noto Sans"/>
              </a:rPr>
              <a:t>Submit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39" y="4096512"/>
            <a:ext cx="226771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79" y="4224528"/>
            <a:ext cx="347472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00" b="1">
                <a:solidFill>
                  <a:srgbClr val="B65319"/>
                </a:solidFill>
                <a:latin typeface="Noto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4215384"/>
            <a:ext cx="160020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50" b="1">
                <a:solidFill>
                  <a:srgbClr val="102A3A"/>
                </a:solidFill>
                <a:latin typeface="Noto Sans"/>
              </a:rPr>
              <a:t>Impact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33871" y="4096512"/>
            <a:ext cx="226771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311" y="4224528"/>
            <a:ext cx="347472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00" b="1">
                <a:solidFill>
                  <a:srgbClr val="B65319"/>
                </a:solidFill>
                <a:latin typeface="Noto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3" y="4215384"/>
            <a:ext cx="160020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50" b="1">
                <a:solidFill>
                  <a:srgbClr val="102A3A"/>
                </a:solidFill>
                <a:latin typeface="Noto Sans"/>
              </a:rPr>
              <a:t>CCB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75903" y="4096512"/>
            <a:ext cx="226771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3" y="4224528"/>
            <a:ext cx="347472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00" b="1">
                <a:solidFill>
                  <a:srgbClr val="B65319"/>
                </a:solidFill>
                <a:latin typeface="Noto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5" y="4215384"/>
            <a:ext cx="160020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50" b="1">
                <a:solidFill>
                  <a:srgbClr val="102A3A"/>
                </a:solidFill>
                <a:latin typeface="Noto Sans"/>
              </a:rPr>
              <a:t>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340096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5340096"/>
            <a:ext cx="64008" cy="987552"/>
          </a:xfrm>
          <a:prstGeom prst="rect">
            <a:avLst/>
          </a:prstGeom>
          <a:solidFill>
            <a:srgbClr val="B65319"/>
          </a:solidFill>
          <a:ln>
            <a:solidFill>
              <a:srgbClr val="B6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431536"/>
            <a:ext cx="19476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B65319"/>
                </a:solidFill>
                <a:latin typeface="Noto Sans"/>
              </a:rPr>
              <a:t>16 SP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907024"/>
            <a:ext cx="19476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Done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5340096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5340096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5431536"/>
            <a:ext cx="19476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237149"/>
                </a:solidFill>
                <a:latin typeface="Noto Sans"/>
              </a:rPr>
              <a:t>27 / 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907024"/>
            <a:ext cx="19476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Before Freeze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50992" y="5340096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50992" y="5340096"/>
            <a:ext cx="64008" cy="98755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5431536"/>
            <a:ext cx="19476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6D4AFF"/>
                </a:solidFill>
                <a:latin typeface="Noto Sans"/>
              </a:rPr>
              <a:t>WIP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3872" y="5907024"/>
            <a:ext cx="19476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Review Limit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01583" y="5340096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01583" y="5340096"/>
            <a:ext cx="64008" cy="98755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4463" y="5431536"/>
            <a:ext cx="19476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891B2"/>
                </a:solidFill>
                <a:latin typeface="Noto Sans"/>
              </a:rPr>
              <a:t>1,350 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4463" y="5907024"/>
            <a:ext cx="19476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Reserve Used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Phase3/Sprint3/sprint3.md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237149"/>
                </a:solidFill>
                <a:latin typeface="Noto Sans"/>
              </a:rPr>
              <a:t>SPRINT 4 · 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UAT และ Release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Acceptance scenario + regression + release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773936"/>
            <a:ext cx="2414016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773936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65376"/>
            <a:ext cx="2139696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237149"/>
                </a:solidFill>
                <a:latin typeface="Noto Sans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40864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Regression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773936"/>
            <a:ext cx="2414016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8416" y="1773936"/>
            <a:ext cx="64008" cy="98755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865376"/>
            <a:ext cx="2139696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A6D9F"/>
                </a:solidFill>
                <a:latin typeface="Noto Sans"/>
              </a:rPr>
              <a:t>3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340864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UAT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773936"/>
            <a:ext cx="2414016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1888" y="1773936"/>
            <a:ext cx="64008" cy="98755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865376"/>
            <a:ext cx="2139696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891B2"/>
                </a:solidFill>
                <a:latin typeface="Noto Sans"/>
              </a:rPr>
              <a:t>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340864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SPI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773936"/>
            <a:ext cx="2414016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60" y="1773936"/>
            <a:ext cx="64008" cy="987552"/>
          </a:xfrm>
          <a:prstGeom prst="rect">
            <a:avLst/>
          </a:prstGeom>
          <a:solidFill>
            <a:srgbClr val="B65319"/>
          </a:solidFill>
          <a:ln>
            <a:solidFill>
              <a:srgbClr val="B6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865376"/>
            <a:ext cx="2139696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B65319"/>
                </a:solidFill>
                <a:latin typeface="Noto Sans"/>
              </a:rPr>
              <a:t>−575 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340864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Cost Variance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3063240"/>
            <a:ext cx="3291840" cy="1353312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" y="3063240"/>
            <a:ext cx="64008" cy="135331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172968"/>
            <a:ext cx="299923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SC01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520440"/>
            <a:ext cx="2999232" cy="80467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เพิ่มสินค้า 10 · ROP 5 → 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7952" y="3063240"/>
            <a:ext cx="3291840" cy="1353312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87952" y="3063240"/>
            <a:ext cx="64008" cy="135331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3172968"/>
            <a:ext cx="299923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SC02 Cashier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520440"/>
            <a:ext cx="2999232" cy="80467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ตัด 6 เหลือ 4 → Low-stock →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3063240"/>
            <a:ext cx="3291840" cy="1353312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0" y="3063240"/>
            <a:ext cx="64008" cy="135331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172968"/>
            <a:ext cx="299923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SC03 Purchasing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520440"/>
            <a:ext cx="2999232" cy="80467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Export CSV → 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818888"/>
            <a:ext cx="10277856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83480"/>
            <a:ext cx="1965960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300" b="1">
                <a:solidFill>
                  <a:srgbClr val="237149"/>
                </a:solidFill>
                <a:latin typeface="Noto Sans"/>
              </a:rPr>
              <a:t>v2.0.0-evolution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4974336"/>
            <a:ext cx="6217920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40" b="1">
                <a:solidFill>
                  <a:srgbClr val="102A3A"/>
                </a:solidFill>
                <a:latin typeface="Noto Sans"/>
              </a:rPr>
              <a:t>CHANGELOG · Final EVM · Technical Gate ผ่าน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733288"/>
            <a:ext cx="205740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880" b="0">
                <a:solidFill>
                  <a:srgbClr val="667B86"/>
                </a:solidFill>
                <a:latin typeface="Noto Sans"/>
              </a:rPr>
              <a:t>Formal sign-off ยังรอลงนาม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Phase4/Sprint4/sprint4.md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A6D9F"/>
                </a:solidFill>
                <a:latin typeface="Noto Sans"/>
              </a:rPr>
              <a:t>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จาก v1.0 ถึง v4.0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แก้ปัญหาทีละชั้นและรักษา backward compatibility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773936"/>
            <a:ext cx="10789920" cy="950976"/>
          </a:xfrm>
          <a:prstGeom prst="roundRect">
            <a:avLst/>
          </a:prstGeom>
          <a:solidFill>
            <a:srgbClr val="FFF0F0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11095"/>
            <a:ext cx="1463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520" b="1">
                <a:solidFill>
                  <a:srgbClr val="A23333"/>
                </a:solidFill>
                <a:latin typeface="Noto Sans"/>
              </a:rPr>
              <a:t>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911095"/>
            <a:ext cx="16916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80" b="1">
                <a:solidFill>
                  <a:srgbClr val="102A3A"/>
                </a:solidFill>
                <a:latin typeface="Noto Sans"/>
              </a:rPr>
              <a:t>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2816" y="1911095"/>
            <a:ext cx="269748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60" b="1">
                <a:solidFill>
                  <a:srgbClr val="102A3A"/>
                </a:solidFill>
                <a:latin typeface="Noto Sans"/>
              </a:rPr>
              <a:t>Monolithic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92807"/>
            <a:ext cx="3968496" cy="45720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40" b="0">
                <a:solidFill>
                  <a:srgbClr val="667B86"/>
                </a:solidFill>
                <a:latin typeface="Noto Sans"/>
              </a:rPr>
              <a:t>CLI 5 เมนู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52928"/>
            <a:ext cx="10789920" cy="950976"/>
          </a:xfrm>
          <a:prstGeom prst="roundRect">
            <a:avLst/>
          </a:prstGeom>
          <a:solidFill>
            <a:srgbClr val="FFF3E8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990088"/>
            <a:ext cx="1463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520" b="1">
                <a:solidFill>
                  <a:srgbClr val="B65319"/>
                </a:solidFill>
                <a:latin typeface="Noto Sans"/>
              </a:rPr>
              <a:t>v2.0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990088"/>
            <a:ext cx="16916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80" b="1">
                <a:solidFill>
                  <a:srgbClr val="102A3A"/>
                </a:solidFill>
                <a:latin typeface="Noto Sans"/>
              </a:rPr>
              <a:t>JSON + Atomic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990088"/>
            <a:ext cx="269748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60" b="1">
                <a:solidFill>
                  <a:srgbClr val="102A3A"/>
                </a:solidFill>
                <a:latin typeface="Noto Sans"/>
              </a:rPr>
              <a:t>OOP 3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71800"/>
            <a:ext cx="3968496" cy="45720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40" b="0">
                <a:solidFill>
                  <a:srgbClr val="667B86"/>
                </a:solidFill>
                <a:latin typeface="Noto Sans"/>
              </a:rPr>
              <a:t>Validation · Barcode · ROP ·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31920"/>
            <a:ext cx="10789920" cy="950976"/>
          </a:xfrm>
          <a:prstGeom prst="roundRect">
            <a:avLst/>
          </a:prstGeom>
          <a:solidFill>
            <a:srgbClr val="EAF8FB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69080"/>
            <a:ext cx="1463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520" b="1">
                <a:solidFill>
                  <a:srgbClr val="0891B2"/>
                </a:solidFill>
                <a:latin typeface="Noto Sans"/>
              </a:rPr>
              <a:t>v3.0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4069080"/>
            <a:ext cx="16916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80" b="1">
                <a:solidFill>
                  <a:srgbClr val="102A3A"/>
                </a:solidFill>
                <a:latin typeface="Noto Sans"/>
              </a:rP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4069080"/>
            <a:ext cx="269748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60" b="1">
                <a:solidFill>
                  <a:srgbClr val="102A3A"/>
                </a:solidFill>
                <a:latin typeface="Noto Sans"/>
              </a:rPr>
              <a:t>Repository +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050791"/>
            <a:ext cx="3968496" cy="45720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40" b="0">
                <a:solidFill>
                  <a:srgbClr val="667B86"/>
                </a:solidFill>
                <a:latin typeface="Noto Sans"/>
              </a:rPr>
              <a:t>Member 4 tiers · Checkout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010912"/>
            <a:ext cx="10789920" cy="950976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148072"/>
            <a:ext cx="1463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520" b="1">
                <a:solidFill>
                  <a:srgbClr val="237149"/>
                </a:solidFill>
                <a:latin typeface="Noto Sans"/>
              </a:rPr>
              <a:t>v4.0 Desktop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5148072"/>
            <a:ext cx="16916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80" b="1">
                <a:solidFill>
                  <a:srgbClr val="102A3A"/>
                </a:solidFill>
                <a:latin typeface="Noto Sans"/>
              </a:rP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816" y="5148072"/>
            <a:ext cx="269748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160" b="1">
                <a:solidFill>
                  <a:srgbClr val="102A3A"/>
                </a:solidFill>
                <a:latin typeface="Noto Sans"/>
              </a:rPr>
              <a:t>GTK4 + reuse 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129783"/>
            <a:ext cx="3968496" cy="45720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40" b="0">
                <a:solidFill>
                  <a:srgbClr val="667B86"/>
                </a:solidFill>
                <a:latin typeface="Noto Sans"/>
              </a:rPr>
              <a:t>Dashboard · Products · Members · Checkout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presentation.md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6D4AFF"/>
                </a:solidFill>
                <a:latin typeface="Noto Sans"/>
              </a:rPr>
              <a:t>SPRINT 5 · 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Data/Domain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Desktop UI reuse domain เดิม ไม่เขียน SQL หรือคำนวณส่วนลดซ้ำ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83664"/>
            <a:ext cx="2468880" cy="2103120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112264"/>
            <a:ext cx="217627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60" b="1">
                <a:solidFill>
                  <a:srgbClr val="0A6D9F"/>
                </a:solidFill>
                <a:latin typeface="Noto Sans"/>
              </a:rPr>
              <a:t>CLI /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70048"/>
            <a:ext cx="2176272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20" b="1">
                <a:solidFill>
                  <a:srgbClr val="102A3A"/>
                </a:solidFill>
                <a:latin typeface="Noto Sans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27248"/>
            <a:ext cx="2176272" cy="51206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990" b="0">
                <a:solidFill>
                  <a:srgbClr val="667B86"/>
                </a:solidFill>
                <a:latin typeface="Noto Sans"/>
              </a:rPr>
              <a:t>app.py / program.py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743200"/>
            <a:ext cx="320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000" b="1">
                <a:solidFill>
                  <a:srgbClr val="667B86"/>
                </a:solidFill>
                <a:latin typeface="Noto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1" y="1883664"/>
            <a:ext cx="2468880" cy="2103120"/>
          </a:xfrm>
          <a:prstGeom prst="roundRect">
            <a:avLst/>
          </a:prstGeom>
          <a:solidFill>
            <a:srgbClr val="EAF8FB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5" y="2112264"/>
            <a:ext cx="217627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60" b="1">
                <a:solidFill>
                  <a:srgbClr val="0891B2"/>
                </a:solidFill>
                <a:latin typeface="Noto Sans"/>
              </a:rPr>
              <a:t>CheckoutService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5" y="2670048"/>
            <a:ext cx="2176272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20" b="1">
                <a:solidFill>
                  <a:srgbClr val="102A3A"/>
                </a:solidFill>
                <a:latin typeface="Noto Sans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5" y="3127248"/>
            <a:ext cx="2176272" cy="51206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990" b="0">
                <a:solidFill>
                  <a:srgbClr val="667B86"/>
                </a:solidFill>
                <a:latin typeface="Noto Sans"/>
              </a:rPr>
              <a:t>subtotal · discount ·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743200"/>
            <a:ext cx="320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000" b="1">
                <a:solidFill>
                  <a:srgbClr val="667B86"/>
                </a:solidFill>
                <a:latin typeface="Noto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883664"/>
            <a:ext cx="2468880" cy="2103120"/>
          </a:xfrm>
          <a:prstGeom prst="roundRect">
            <a:avLst/>
          </a:prstGeom>
          <a:solidFill>
            <a:srgbClr val="F2EE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112264"/>
            <a:ext cx="217627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60" b="1">
                <a:solidFill>
                  <a:srgbClr val="6D4AFF"/>
                </a:solidFill>
                <a:latin typeface="Noto Sans"/>
              </a:rPr>
              <a:t>Repository +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670048"/>
            <a:ext cx="2176272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20" b="1">
                <a:solidFill>
                  <a:srgbClr val="102A3A"/>
                </a:solidFill>
                <a:latin typeface="Noto Sans"/>
              </a:rP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127248"/>
            <a:ext cx="2176272" cy="51206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990" b="0">
                <a:solidFill>
                  <a:srgbClr val="667B86"/>
                </a:solidFill>
                <a:latin typeface="Noto Sans"/>
              </a:rPr>
              <a:t>InventoryRepository · MemberTier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743200"/>
            <a:ext cx="320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000" b="1">
                <a:solidFill>
                  <a:srgbClr val="667B86"/>
                </a:solidFill>
                <a:latin typeface="Noto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883664"/>
            <a:ext cx="2468880" cy="2103120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112264"/>
            <a:ext cx="217627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60" b="1">
                <a:solidFill>
                  <a:srgbClr val="237149"/>
                </a:solidFill>
                <a:latin typeface="Noto Sans"/>
              </a:rP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70048"/>
            <a:ext cx="2176272" cy="2743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120" b="1">
                <a:solidFill>
                  <a:srgbClr val="102A3A"/>
                </a:solidFill>
                <a:latin typeface="Noto Sans"/>
              </a:rP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127248"/>
            <a:ext cx="2176272" cy="51206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990" b="0">
                <a:solidFill>
                  <a:srgbClr val="667B86"/>
                </a:solidFill>
                <a:latin typeface="Noto Sans"/>
              </a:rPr>
              <a:t>products · members · transaction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17720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617720"/>
            <a:ext cx="64008" cy="98755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09159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6D4AFF"/>
                </a:solidFill>
                <a:latin typeface="Noto Sans"/>
              </a:rPr>
              <a:t>17 SP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84648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Data + Domain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617720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4617720"/>
            <a:ext cx="64008" cy="98755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709159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A6D9F"/>
                </a:solidFill>
                <a:latin typeface="Noto Sans"/>
              </a:rPr>
              <a:t>29 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84648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Desktop UI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617720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617720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709159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237149"/>
                </a:solidFill>
                <a:latin typeface="Noto Sans"/>
              </a:rPr>
              <a:t>46 SP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84648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Sprint 5 Total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4617720"/>
            <a:ext cx="24505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4617720"/>
            <a:ext cx="64008" cy="98755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4709159"/>
            <a:ext cx="2176272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891B2"/>
                </a:solidFill>
                <a:latin typeface="Noto Sans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184648"/>
            <a:ext cx="2176272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Migration Verify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Phase5/Sprint5/sprint5.md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6D4AFF"/>
                </a:solidFill>
                <a:latin typeface="Noto Sans"/>
              </a:rPr>
              <a:t>SPRINT 5 · 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Member Strategy +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CheckoutService เป็น source of truth เดียว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792224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5681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80" b="1">
                <a:solidFill>
                  <a:srgbClr val="102A3A"/>
                </a:solidFill>
                <a:latin typeface="Noto Sans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59152"/>
            <a:ext cx="2139696" cy="38404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300" b="1">
                <a:solidFill>
                  <a:srgbClr val="0A6D9F"/>
                </a:solidFill>
                <a:latin typeface="Noto Sans"/>
              </a:rPr>
              <a:t>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92224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95681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80" b="1">
                <a:solidFill>
                  <a:srgbClr val="102A3A"/>
                </a:solidFill>
                <a:latin typeface="Noto Sans"/>
              </a:rPr>
              <a:t>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359152"/>
            <a:ext cx="2139696" cy="38404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300" b="1">
                <a:solidFill>
                  <a:srgbClr val="0891B2"/>
                </a:solidFill>
                <a:latin typeface="Noto Sans"/>
              </a:rPr>
              <a:t>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92224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5681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80" b="1">
                <a:solidFill>
                  <a:srgbClr val="102A3A"/>
                </a:solidFill>
                <a:latin typeface="Noto Sans"/>
              </a:rPr>
              <a:t>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9152"/>
            <a:ext cx="2139696" cy="38404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300" b="1">
                <a:solidFill>
                  <a:srgbClr val="B65319"/>
                </a:solidFill>
                <a:latin typeface="Noto Sans"/>
              </a:rPr>
              <a:t>10%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792224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956816"/>
            <a:ext cx="2139696" cy="29260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1380" b="1">
                <a:solidFill>
                  <a:srgbClr val="102A3A"/>
                </a:solidFill>
                <a:latin typeface="Noto Sans"/>
              </a:rPr>
              <a:t>Platinum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359152"/>
            <a:ext cx="2139696" cy="38404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/>
            <a:r>
              <a:rPr sz="2300" b="1">
                <a:solidFill>
                  <a:srgbClr val="6D4AFF"/>
                </a:solidFill>
                <a:latin typeface="Noto Sans"/>
              </a:rPr>
              <a:t>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56432"/>
            <a:ext cx="5029200" cy="1865376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657600"/>
            <a:ext cx="438912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ตัวอย่าง 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41648"/>
            <a:ext cx="44348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60">
                <a:solidFill>
                  <a:srgbClr val="182B36"/>
                </a:solidFill>
                <a:latin typeface="Noto Sans"/>
              </a:defRPr>
            </a:pPr>
            <a:r>
              <a:t>• 2 × 500 = 1,000 บาท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60">
                <a:solidFill>
                  <a:srgbClr val="182B36"/>
                </a:solidFill>
                <a:latin typeface="Noto Sans"/>
              </a:defRPr>
            </a:pPr>
            <a:r>
              <a:t>• ส่วนลด 10% = 100 บาท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60">
                <a:solidFill>
                  <a:srgbClr val="182B36"/>
                </a:solidFill>
                <a:latin typeface="Noto Sans"/>
              </a:defRPr>
            </a:pPr>
            <a:r>
              <a:t>• ยอดสุทธิ = 900 บาท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60">
                <a:solidFill>
                  <a:srgbClr val="182B36"/>
                </a:solidFill>
                <a:latin typeface="Noto Sans"/>
              </a:defRPr>
            </a:pPr>
            <a:r>
              <a:t>• Guest = ราคาเต็ม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56432"/>
            <a:ext cx="5212080" cy="1865376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657600"/>
            <a:ext cx="461772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237149"/>
                </a:solidFill>
                <a:latin typeface="Noto Sans"/>
              </a:rPr>
              <a:t>ผลต่อการออกแบบ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41648"/>
            <a:ext cx="459028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30">
                <a:solidFill>
                  <a:srgbClr val="182B36"/>
                </a:solidFill>
                <a:latin typeface="Noto Sans"/>
              </a:defRPr>
            </a:pPr>
            <a:r>
              <a:t>• เพิ่ม tier ใหม่โดยไม่กระจาย if-else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30">
                <a:solidFill>
                  <a:srgbClr val="182B36"/>
                </a:solidFill>
                <a:latin typeface="Noto Sans"/>
              </a:defRPr>
            </a:pPr>
            <a:r>
              <a:t>• UI ไม่คำนวณ discount ซ้ำ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30">
                <a:solidFill>
                  <a:srgbClr val="182B36"/>
                </a:solidFill>
                <a:latin typeface="Noto Sans"/>
              </a:defRPr>
            </a:pPr>
            <a:r>
              <a:t>• CheckoutService เป็น truth เดียว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30">
                <a:solidFill>
                  <a:srgbClr val="182B36"/>
                </a:solidFill>
                <a:latin typeface="Noto Sans"/>
              </a:defRPr>
            </a:pPr>
            <a:r>
              <a:t>• Receipt แสดง stock คงเหลือ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Phase5/Sprint5/sprint5.md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6D4AFF"/>
                </a:solidFill>
                <a:latin typeface="Noto Sans"/>
              </a:rPr>
              <a:t>JIRA · SPRINT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Epic SPM-28: CLI → Desktop Program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คง Story Points / Parent / Done เดิม แต่แก้ scope ให้ตรงกับตัวส่งมอบจริง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6492240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719072"/>
            <a:ext cx="6492240" cy="4160520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88352" y="1737360"/>
            <a:ext cx="4023360" cy="950976"/>
          </a:xfrm>
          <a:prstGeom prst="roundRect">
            <a:avLst/>
          </a:prstGeom>
          <a:solidFill>
            <a:srgbClr val="F2EE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88352" y="1737360"/>
            <a:ext cx="64008" cy="950976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847088"/>
            <a:ext cx="37307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SPM-29 ·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2194560"/>
            <a:ext cx="3730752" cy="402336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GTK4 scaffold + reuse domain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8352" y="2816352"/>
            <a:ext cx="4023360" cy="950976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88352" y="2816352"/>
            <a:ext cx="64008" cy="950976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926080"/>
            <a:ext cx="37307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SPM-30 ·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273552"/>
            <a:ext cx="3730752" cy="402336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Dashboard + Products Desktop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895344"/>
            <a:ext cx="4023360" cy="950976"/>
          </a:xfrm>
          <a:prstGeom prst="roundRect">
            <a:avLst/>
          </a:prstGeom>
          <a:solidFill>
            <a:srgbClr val="EAF8FB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88352" y="3895344"/>
            <a:ext cx="64008" cy="9509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4005072"/>
            <a:ext cx="37307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SPM-31 · 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4352544"/>
            <a:ext cx="3730752" cy="402336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Members + Checkout Desktop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4974336"/>
            <a:ext cx="4023360" cy="950976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4974336"/>
            <a:ext cx="64008" cy="950976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5084064"/>
            <a:ext cx="37307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SPM-32 ·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5431536"/>
            <a:ext cx="3730752" cy="402336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Responsive + Quality 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Jira SPM-28…32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A6D9F"/>
                </a:solidFill>
                <a:latin typeface="Noto Sans"/>
              </a:rPr>
              <a:t>FINAL DESKTOP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เห็นสถานะคลังและรายการที่ควรจัดการก่อน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7543800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1719072"/>
            <a:ext cx="7543800" cy="4251960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39912" y="1719072"/>
            <a:ext cx="3154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984248"/>
            <a:ext cx="2606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จุดสำคัญ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5420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ประเภทสินค้า / มูลค่าคงคลัง / low-stock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SQLite status ชัดเจน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Responsive layout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เวลาอัปเดตล่าสุด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final/desktop-app · 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0891B2"/>
                </a:solidFill>
                <a:latin typeface="Noto Sans"/>
              </a:rPr>
              <a:t>FINAL DESKTOP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เพิ่ม แก้ไข ค้นหา ตัดสต็อก ลบ และ Export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7543800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1719072"/>
            <a:ext cx="7543800" cy="4251960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39912" y="1719072"/>
            <a:ext cx="3154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984248"/>
            <a:ext cx="2606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จุดสำคัญ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5420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Form เพิ่ม/แก้ไข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Search รหัส / ชื่อ / หมวดหมู่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LOW / OK badge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Export CSV + action ต่อแถว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final/desktop-app · 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6D4AFF"/>
                </a:solidFill>
                <a:latin typeface="Noto Sans"/>
              </a:rPr>
              <a:t>FINAL DESKTOP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จัดการสมาชิกและระดับส่วนลด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7543800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1719072"/>
            <a:ext cx="7543800" cy="4251960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39912" y="1719072"/>
            <a:ext cx="3154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984248"/>
            <a:ext cx="2606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จุดสำคัญ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5420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CRUD สมาชิก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Regular / Silver / Gold / Platinum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Discount badge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CheckoutService ใช้ policy เดียว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final/desktop-app · 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237149"/>
                </a:solidFill>
                <a:latin typeface="Noto Sans"/>
              </a:rPr>
              <a:t>FINAL DESKTOP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ตัดสต็อก คิดส่วนลด และแสดงใบเสร็จ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19072"/>
            <a:ext cx="7543800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1719072"/>
            <a:ext cx="7543800" cy="4251960"/>
          </a:xfrm>
          <a:prstGeom prst="rect">
            <a:avLst/>
          </a:prstGeom>
          <a:noFill/>
          <a:ln w="12700"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39912" y="1719072"/>
            <a:ext cx="3154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984248"/>
            <a:ext cx="26060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จุดสำคัญ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5420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Guest / Member checkout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Strategy discount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Grand Total เด่น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40">
                <a:solidFill>
                  <a:srgbClr val="182B36"/>
                </a:solidFill>
                <a:latin typeface="Noto Sans"/>
              </a:defRPr>
            </a:pPr>
            <a:r>
              <a:t>• แสดง stock คงเหลือ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final/desktop-app · 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237149"/>
                </a:solidFill>
                <a:latin typeface="Noto Sans"/>
              </a:rPr>
              <a:t>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สถานะสุดท้ายของโครงการ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Domain + Desktop integration + regression + static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73936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73936"/>
            <a:ext cx="64008" cy="98755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65376"/>
            <a:ext cx="2212848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237149"/>
                </a:solidFill>
                <a:latin typeface="Noto Sans"/>
              </a:rPr>
              <a:t>21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40864"/>
            <a:ext cx="2212848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Main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73936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773936"/>
            <a:ext cx="64008" cy="98755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865376"/>
            <a:ext cx="2212848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A6D9F"/>
                </a:solidFill>
                <a:latin typeface="Noto Sans"/>
              </a:rPr>
              <a:t>25 /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340864"/>
            <a:ext cx="2212848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v2 Regression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73936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73936"/>
            <a:ext cx="64008" cy="98755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65376"/>
            <a:ext cx="2212848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0891B2"/>
                </a:solidFill>
                <a:latin typeface="Noto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340864"/>
            <a:ext cx="2212848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Flake8 Issues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1773936"/>
            <a:ext cx="248716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7968" y="1773936"/>
            <a:ext cx="64008" cy="98755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865376"/>
            <a:ext cx="2212848" cy="39319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6D4AFF"/>
                </a:solidFill>
                <a:latin typeface="Noto San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340864"/>
            <a:ext cx="2212848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667B86"/>
                </a:solidFill>
                <a:latin typeface="Noto Sans"/>
              </a:rPr>
              <a:t>Bandit Issues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127248"/>
            <a:ext cx="5321808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355848"/>
            <a:ext cx="475488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Desktop Integration 7 เคส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30752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Responsive breakpoints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Seed + Dashboard metrics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LOW / OK status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Member checkout + Receipt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CSV export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127248"/>
            <a:ext cx="5230368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355848"/>
            <a:ext cx="466344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50" b="1">
                <a:solidFill>
                  <a:srgbClr val="102A3A"/>
                </a:solidFill>
                <a:latin typeface="Noto Sans"/>
              </a:rPr>
              <a:t>Regression v2.0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730752"/>
            <a:ext cx="45902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Baseline behavior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CR-01 Barcode / ROP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CR-02 CSV Export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BUG-101 legacy JSON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10">
                <a:solidFill>
                  <a:srgbClr val="182B36"/>
                </a:solidFill>
                <a:latin typeface="Noto Sans"/>
              </a:defRPr>
            </a:pPr>
            <a:r>
              <a:t>• CLI + 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test_app.py · test_program.py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01752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B65319"/>
                </a:solidFill>
                <a:latin typeface="Noto Sans"/>
              </a:rPr>
              <a:t>PROJECT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972800" cy="53035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500" b="1">
                <a:solidFill>
                  <a:srgbClr val="102A3A"/>
                </a:solidFill>
                <a:latin typeface="Noto Sans"/>
              </a:rPr>
              <a:t>มุมมองรวม 5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33271"/>
            <a:ext cx="1097280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200" b="0">
                <a:solidFill>
                  <a:srgbClr val="667B86"/>
                </a:solidFill>
                <a:latin typeface="Noto Sans"/>
              </a:rPr>
              <a:t>Scope · Cost · Quality · Change · Release เชื่อมด้วยหลักฐานเดียวกัน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810512"/>
            <a:ext cx="3337560" cy="1536192"/>
          </a:xfrm>
          <a:prstGeom prst="roundRect">
            <a:avLst/>
          </a:prstGeom>
          <a:solidFill>
            <a:srgbClr val="EAF4F9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64008" cy="153619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30449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3044952" cy="98755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95 SP · ทุก Sprint ปิดแล้ว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10512"/>
            <a:ext cx="3337560" cy="1536192"/>
          </a:xfrm>
          <a:prstGeom prst="roundRect">
            <a:avLst/>
          </a:prstGeom>
          <a:solidFill>
            <a:srgbClr val="FFF3E8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810512"/>
            <a:ext cx="64008" cy="1536192"/>
          </a:xfrm>
          <a:prstGeom prst="rect">
            <a:avLst/>
          </a:prstGeom>
          <a:solidFill>
            <a:srgbClr val="B65319"/>
          </a:solidFill>
          <a:ln>
            <a:solidFill>
              <a:srgbClr val="B6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20240"/>
            <a:ext cx="30449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67712"/>
            <a:ext cx="3044952" cy="98755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Baseline 18,823 ฿ · Final CV −575 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810512"/>
            <a:ext cx="3337560" cy="1536192"/>
          </a:xfrm>
          <a:prstGeom prst="roundRect">
            <a:avLst/>
          </a:prstGeom>
          <a:solidFill>
            <a:srgbClr val="EEF8F2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1" y="1810512"/>
            <a:ext cx="64008" cy="1536192"/>
          </a:xfrm>
          <a:prstGeom prst="rect">
            <a:avLst/>
          </a:prstGeom>
          <a:solidFill>
            <a:srgbClr val="237149"/>
          </a:solidFill>
          <a:ln>
            <a:solidFill>
              <a:srgbClr val="237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1920240"/>
            <a:ext cx="30449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2267712"/>
            <a:ext cx="3044952" cy="98755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DoR/DoD · ISO Gate · Automated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49039"/>
            <a:ext cx="3337560" cy="1536192"/>
          </a:xfrm>
          <a:prstGeom prst="roundRect">
            <a:avLst/>
          </a:prstGeom>
          <a:solidFill>
            <a:srgbClr val="F2EE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749039"/>
            <a:ext cx="64008" cy="1536192"/>
          </a:xfrm>
          <a:prstGeom prst="rect">
            <a:avLst/>
          </a:prstGeom>
          <a:solidFill>
            <a:srgbClr val="6D4AFF"/>
          </a:solidFill>
          <a:ln>
            <a:solidFill>
              <a:srgbClr val="6D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58768"/>
            <a:ext cx="30449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206240"/>
            <a:ext cx="3044952" cy="98755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CR-01 · CR-02 · BUG-101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749039"/>
            <a:ext cx="3337560" cy="1536192"/>
          </a:xfrm>
          <a:prstGeom prst="roundRect">
            <a:avLst/>
          </a:prstGeom>
          <a:solidFill>
            <a:srgbClr val="EAF8FB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3749039"/>
            <a:ext cx="64008" cy="15361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858768"/>
            <a:ext cx="30449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206240"/>
            <a:ext cx="3044952" cy="98755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v2.0 gate + Desktop candidate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1" y="3749039"/>
            <a:ext cx="333756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9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1" y="3749039"/>
            <a:ext cx="64008" cy="1536192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1" y="3858768"/>
            <a:ext cx="3044952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450" b="1">
                <a:solidFill>
                  <a:srgbClr val="102A3A"/>
                </a:solidFill>
                <a:latin typeface="Noto San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1" y="4206240"/>
            <a:ext cx="3044952" cy="987552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050" b="0">
                <a:solidFill>
                  <a:srgbClr val="667B86"/>
                </a:solidFill>
                <a:latin typeface="Noto Sans"/>
              </a:rPr>
              <a:t>Reports · Jira · Tests · Screenshots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37376"/>
            <a:ext cx="11018520" cy="914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819" b="0">
                <a:solidFill>
                  <a:srgbClr val="667B86"/>
                </a:solidFill>
                <a:latin typeface="Noto Sans"/>
              </a:rPr>
              <a:t>Source: Sprint 1–5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55664"/>
            <a:ext cx="640080" cy="2011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900" b="1">
                <a:solidFill>
                  <a:srgbClr val="0A6D9F"/>
                </a:solidFill>
                <a:latin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A6D9F"/>
          </a:solidFill>
          <a:ln>
            <a:solidFill>
              <a:srgbClr val="0A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2743200" cy="256032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50" b="1">
                <a:solidFill>
                  <a:srgbClr val="7DD3FC"/>
                </a:solidFill>
                <a:latin typeface="Noto Sans"/>
              </a:rPr>
              <a:t>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6583680" cy="12344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Noto Sans"/>
              </a:rPr>
              <a:t>จาก CLI ที่เปราะบาง
สู่โปรแกรม Desktop ที่ทดสอบได้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16352"/>
            <a:ext cx="2926080" cy="310896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600" b="1">
                <a:solidFill>
                  <a:srgbClr val="C8D7E2"/>
                </a:solidFill>
                <a:latin typeface="Noto Sans"/>
              </a:rPr>
              <a:t>สิ่งที่พิสูจน์ได้จากหลักฐาน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82112"/>
            <a:ext cx="5989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80">
                <a:solidFill>
                  <a:srgbClr val="E4EDF2"/>
                </a:solidFill>
                <a:latin typeface="Noto Sans"/>
              </a:defRPr>
            </a:pPr>
            <a:r>
              <a:t>• Monolithic → Layered Architecture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80">
                <a:solidFill>
                  <a:srgbClr val="E4EDF2"/>
                </a:solidFill>
                <a:latin typeface="Noto Sans"/>
              </a:defRPr>
            </a:pPr>
            <a:r>
              <a:t>• JSON → SQLite + Transaction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80">
                <a:solidFill>
                  <a:srgbClr val="E4EDF2"/>
                </a:solidFill>
                <a:latin typeface="Noto Sans"/>
              </a:defRPr>
            </a:pPr>
            <a:r>
              <a:t>• Member Strategy + Checkout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80">
                <a:solidFill>
                  <a:srgbClr val="E4EDF2"/>
                </a:solidFill>
                <a:latin typeface="Noto Sans"/>
              </a:defRPr>
            </a:pPr>
            <a:r>
              <a:t>• Desktop UI reuse domain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280">
                <a:solidFill>
                  <a:srgbClr val="E4EDF2"/>
                </a:solidFill>
                <a:latin typeface="Noto Sans"/>
              </a:defRPr>
            </a:pPr>
            <a:r>
              <a:t>• 21/21 + 25/25 · Flake8 0 · Bandit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89888"/>
            <a:ext cx="4114800" cy="3401568"/>
          </a:xfrm>
          <a:prstGeom prst="roundRect">
            <a:avLst/>
          </a:prstGeom>
          <a:solidFill>
            <a:srgbClr val="173849"/>
          </a:solidFill>
          <a:ln>
            <a:solidFill>
              <a:srgbClr val="2C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682496"/>
            <a:ext cx="3474720" cy="32918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800" b="1">
                <a:solidFill>
                  <a:srgbClr val="7DD3FC"/>
                </a:solidFill>
                <a:latin typeface="Noto Sans"/>
              </a:rP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76272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FFFFFF"/>
                </a:solidFill>
                <a:latin typeface="Noto Sans"/>
              </a:defRPr>
            </a:pPr>
            <a:r>
              <a:t>• Executable / Installer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FFFFFF"/>
                </a:solidFill>
                <a:latin typeface="Noto Sans"/>
              </a:defRPr>
            </a:pPr>
            <a:r>
              <a:t>• Formal UAT Sign-off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FFFFFF"/>
                </a:solidFill>
                <a:latin typeface="Noto Sans"/>
              </a:defRPr>
            </a:pPr>
            <a:r>
              <a:t>• Role/Login หากขยาย scope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FFFFFF"/>
                </a:solidFill>
                <a:latin typeface="Noto Sans"/>
              </a:defRPr>
            </a:pPr>
            <a:r>
              <a:t>• PostgreSQL เมื่อ multi-user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5285232"/>
            <a:ext cx="3474720" cy="38404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Noto Sans"/>
              </a:rPr>
              <a:t>ขอบคุณครับ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53328"/>
            <a:ext cx="5029200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/>
            <a:r>
              <a:rPr sz="1000" b="0">
                <a:solidFill>
                  <a:srgbClr val="8FA6B3"/>
                </a:solidFill>
                <a:latin typeface="Noto Sans"/>
              </a:rPr>
              <a:t>Software Project Management ·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053328"/>
            <a:ext cx="640080" cy="237744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r"/>
            <a:r>
              <a:rPr sz="1000" b="1">
                <a:solidFill>
                  <a:srgbClr val="7DD3FC"/>
                </a:solidFill>
                <a:latin typeface="Noto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
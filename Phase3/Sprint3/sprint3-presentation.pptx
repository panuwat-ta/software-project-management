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TH Sarabun New"/>
              </a:rPr>
              <a:t>SPRINT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TH Sarabun New"/>
              </a:rPr>
              <a:t>ลงมือและคุมการเปลี่ยนแปลง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7D2FE"/>
                </a:solidFill>
                <a:latin typeface="TH Sarabun New"/>
              </a:rPr>
              <a:t>Change Control · EVM · Defect-driven Test · Hardening · Scope Freeze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886200"/>
            <a:ext cx="3246120" cy="1143000"/>
          </a:xfrm>
          <a:prstGeom prst="roundRect">
            <a:avLst/>
          </a:prstGeom>
          <a:solidFill>
            <a:srgbClr val="13244B"/>
          </a:solidFill>
          <a:ln>
            <a:solidFill>
              <a:srgbClr val="284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4050791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H Sarabun New"/>
              </a:rPr>
              <a:t>16 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498848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4E4"/>
                </a:solidFill>
                <a:latin typeface="TH Sarabun New"/>
              </a:rPr>
              <a:t>Story Points ปิดครบ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886200"/>
            <a:ext cx="3246120" cy="1143000"/>
          </a:xfrm>
          <a:prstGeom prst="roundRect">
            <a:avLst/>
          </a:prstGeom>
          <a:solidFill>
            <a:srgbClr val="13244B"/>
          </a:solidFill>
          <a:ln>
            <a:solidFill>
              <a:srgbClr val="284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4050791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H Sarabun New"/>
              </a:rPr>
              <a:t>27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4498848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4E4"/>
                </a:solidFill>
                <a:latin typeface="TH Sarabun New"/>
              </a:rPr>
              <a:t>Burnup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886200"/>
            <a:ext cx="3246120" cy="1143000"/>
          </a:xfrm>
          <a:prstGeom prst="roundRect">
            <a:avLst/>
          </a:prstGeom>
          <a:solidFill>
            <a:srgbClr val="13244B"/>
          </a:solidFill>
          <a:ln>
            <a:solidFill>
              <a:srgbClr val="284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4050791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H Sarabun New"/>
              </a:rPr>
              <a:t>1,350 THB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4498848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4E4"/>
                </a:solidFill>
                <a:latin typeface="TH Sarabun New"/>
              </a:rPr>
              <a:t>Reserve 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89320"/>
            <a:ext cx="4937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8C4E4"/>
                </a:solidFill>
                <a:latin typeface="TH Sarabun New"/>
              </a:rPr>
              <a:t>Phase 3 · W8–W11 · Jira Sprint ID 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5989320"/>
            <a:ext cx="5760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8393B6"/>
                </a:solidFill>
                <a:latin typeface="TH Sarabun New"/>
              </a:rPr>
              <a:t>Software Project Management · ข้อมูลสมมติเพื่อการเรียน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TH Sarabun New"/>
              </a:rPr>
              <a:t>SPRINT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ภาพรวมสปรินต์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นำแผนไปใช้จริง พร้อมควบคุม Change Request, defect, งบ และขอบเขตไม่ให้หลุด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783080"/>
            <a:ext cx="261518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83080"/>
            <a:ext cx="91440" cy="1078992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92807"/>
            <a:ext cx="229514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A580C"/>
                </a:solidFill>
                <a:latin typeface="TH Sarabun New"/>
              </a:rPr>
              <a:t>W8–W11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86584"/>
            <a:ext cx="2295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ช่วงงาน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783080"/>
            <a:ext cx="261518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1783080"/>
            <a:ext cx="91440" cy="1078992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1892807"/>
            <a:ext cx="229514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A580C"/>
                </a:solidFill>
                <a:latin typeface="TH Sarabun New"/>
              </a:rPr>
              <a:t>16 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386584"/>
            <a:ext cx="2295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ปิดครบ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83080"/>
            <a:ext cx="261518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7648" y="1783080"/>
            <a:ext cx="91440" cy="1078992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1892807"/>
            <a:ext cx="229514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A580C"/>
                </a:solidFill>
                <a:latin typeface="TH Sarabun New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386584"/>
            <a:ext cx="2295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Issues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08007" y="1783080"/>
            <a:ext cx="261518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08007" y="1783080"/>
            <a:ext cx="91440" cy="1078992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7" y="1892807"/>
            <a:ext cx="229514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A580C"/>
                </a:solidFill>
                <a:latin typeface="TH Sarabun New"/>
              </a:rPr>
              <a:t>93%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7" y="2386584"/>
            <a:ext cx="2295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Burnup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154680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B1736"/>
                </a:solidFill>
                <a:latin typeface="TH Sarabun New"/>
              </a:rPr>
              <a:t>ทีมและความรับผิดชอบ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584448"/>
            <a:ext cx="53218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657600"/>
            <a:ext cx="1920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TH Sarabun New"/>
              </a:rPr>
              <a:t>ภานุวัฒน์ ต๋าคำ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3895344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EA580C"/>
                </a:solidFill>
                <a:latin typeface="TH Sarabun New"/>
              </a:rPr>
              <a:t>PM / Developer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3657600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TH Sarabun New"/>
              </a:rPr>
              <a:t>Impact Analysis · CCB · Log Work · EVM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370832"/>
            <a:ext cx="53218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443984"/>
            <a:ext cx="1920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TH Sarabun New"/>
              </a:rPr>
              <a:t>เอกพันธ์ ทศทิศรังสรรค์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4681728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EA580C"/>
                </a:solidFill>
                <a:latin typeface="TH Sarabun New"/>
              </a:rPr>
              <a:t>QA / Tester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4443984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TH Sarabun New"/>
              </a:rPr>
              <a:t>Defect-driven / integration test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157216"/>
            <a:ext cx="53218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230368"/>
            <a:ext cx="1920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TH Sarabun New"/>
              </a:rPr>
              <a:t>ณฐภาพ สายหล้า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5468112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EA580C"/>
                </a:solidFill>
                <a:latin typeface="TH Sarabun New"/>
              </a:rPr>
              <a:t>Tech Lead / Architect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5230368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TH Sarabun New"/>
              </a:rPr>
              <a:t>Root cause · review · hardening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154680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B1736"/>
                </a:solidFill>
                <a:latin typeface="TH Sarabun New"/>
              </a:rPr>
              <a:t>เป้าหมายหลัก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547872"/>
            <a:ext cx="5120640" cy="2240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550">
                <a:solidFill>
                  <a:srgbClr val="111827"/>
                </a:solidFill>
                <a:latin typeface="TH Sarabun New"/>
              </a:defRPr>
            </a:pPr>
            <a:r>
              <a:t>• รับ CR-01 ผ่าน Impact Analysis และ board tracking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550">
                <a:solidFill>
                  <a:srgbClr val="111827"/>
                </a:solidFill>
                <a:latin typeface="TH Sarabun New"/>
              </a:defRPr>
            </a:pPr>
            <a:r>
              <a:t>• ติดตาม EVM + retrospective + transition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550">
                <a:solidFill>
                  <a:srgbClr val="111827"/>
                </a:solidFill>
                <a:latin typeface="TH Sarabun New"/>
              </a:defRPr>
            </a:pPr>
            <a:r>
              <a:t>• อนุมัติ CR-02 ผ่าน CCB และแก้ BUG-101 ด้วย 5 Whys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550">
                <a:solidFill>
                  <a:srgbClr val="111827"/>
                </a:solidFill>
                <a:latin typeface="TH Sarabun New"/>
              </a:defRPr>
            </a:pPr>
            <a:r>
              <a:t>• Hardening โค้ดและ Scope Freeze ก่อนเข้าสู่ release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Phase3/Sprint3/sprint3.md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EA580C"/>
                </a:solidFill>
                <a:latin typeface="TH Sarabun New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TH Sarabun New"/>
              </a:rPr>
              <a:t>SPRINT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เส้นทาง W8–W11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ทุกการเปลี่ยนแปลงต้องมีผลกระทบ หลักฐาน และเงื่อนไขปิด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2926080"/>
            <a:ext cx="10241280" cy="0"/>
          </a:xfrm>
          <a:prstGeom prst="line">
            <a:avLst/>
          </a:prstGeom>
          <a:ln w="38100">
            <a:solidFill>
              <a:srgbClr val="B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13816" y="2779776"/>
            <a:ext cx="292608" cy="292608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EA580C"/>
                </a:solidFill>
                <a:latin typeface="TH Sarabun New"/>
              </a:rPr>
              <a:t>W8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82879" y="3218688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736"/>
                </a:solidFill>
                <a:latin typeface="TH Sarabun New"/>
              </a:rPr>
              <a:t>CR-01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74320" y="3675887"/>
            <a:ext cx="24688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10" b="0">
                <a:solidFill>
                  <a:srgbClr val="64748B"/>
                </a:solidFill>
                <a:latin typeface="TH Sarabun New"/>
              </a:rPr>
              <a:t>Impact · Burndown · Blocker · Stakeholder</a:t>
            </a:r>
          </a:p>
        </p:txBody>
      </p:sp>
      <p:sp>
        <p:nvSpPr>
          <p:cNvPr id="11" name="Oval 10"/>
          <p:cNvSpPr/>
          <p:nvPr/>
        </p:nvSpPr>
        <p:spPr>
          <a:xfrm>
            <a:off x="4227576" y="2779776"/>
            <a:ext cx="292608" cy="292608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9519" y="2148840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EA580C"/>
                </a:solidFill>
                <a:latin typeface="TH Sarabun New"/>
              </a:rPr>
              <a:t>W9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80" y="3218688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736"/>
                </a:solidFill>
                <a:latin typeface="TH Sarabun New"/>
              </a:rPr>
              <a:t>ติดตาม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9440" y="3675887"/>
            <a:ext cx="24688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10" b="0">
                <a:solidFill>
                  <a:srgbClr val="64748B"/>
                </a:solidFill>
                <a:latin typeface="TH Sarabun New"/>
              </a:rPr>
              <a:t>EVM · Retro · Sprint Transition</a:t>
            </a:r>
          </a:p>
        </p:txBody>
      </p:sp>
      <p:sp>
        <p:nvSpPr>
          <p:cNvPr id="15" name="Oval 14"/>
          <p:cNvSpPr/>
          <p:nvPr/>
        </p:nvSpPr>
        <p:spPr>
          <a:xfrm>
            <a:off x="7641335" y="2779776"/>
            <a:ext cx="292608" cy="292608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93279" y="2148840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EA580C"/>
                </a:solidFill>
                <a:latin typeface="TH Sarabun New"/>
              </a:rPr>
              <a:t>W10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39" y="3218688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736"/>
                </a:solidFill>
                <a:latin typeface="TH Sarabun New"/>
              </a:rPr>
              <a:t>CR-02 + BUG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199" y="3675887"/>
            <a:ext cx="24688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10" b="0">
                <a:solidFill>
                  <a:srgbClr val="64748B"/>
                </a:solidFill>
                <a:latin typeface="TH Sarabun New"/>
              </a:rPr>
              <a:t>CCB · 5 Whys · Reserve</a:t>
            </a:r>
          </a:p>
        </p:txBody>
      </p:sp>
      <p:sp>
        <p:nvSpPr>
          <p:cNvPr id="19" name="Oval 18"/>
          <p:cNvSpPr/>
          <p:nvPr/>
        </p:nvSpPr>
        <p:spPr>
          <a:xfrm>
            <a:off x="11055096" y="2779776"/>
            <a:ext cx="292608" cy="292608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0" y="2148840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EA580C"/>
                </a:solidFill>
                <a:latin typeface="TH Sarabun New"/>
              </a:rPr>
              <a:t>W11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218688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736"/>
                </a:solidFill>
                <a:latin typeface="TH Sarabun New"/>
              </a:rPr>
              <a:t>Harden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675887"/>
            <a:ext cx="24688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10" b="0">
                <a:solidFill>
                  <a:srgbClr val="64748B"/>
                </a:solidFill>
                <a:latin typeface="TH Sarabun New"/>
              </a:rPr>
              <a:t>Flow/WIP · Burnup · Scope Freeze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Phase3/Sprint3/sprint3.md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EA580C"/>
                </a:solidFill>
                <a:latin typeface="TH Sarabun New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TH Sarabun New"/>
              </a:rPr>
              <a:t>SPRINT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Change Request ที่ควบคุมผ่านกระบวนการ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21792" y="1828800"/>
            <a:ext cx="51663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51663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29968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B91C1C"/>
                </a:solidFill>
                <a:latin typeface="TH Sarabun New"/>
              </a:rPr>
              <a:t>CR-01 · Barcode + ROP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2" y="2029968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5803D"/>
                </a:solidFill>
                <a:latin typeface="TH Sarabun New"/>
              </a:rPr>
              <a:t>CR-02 · CSV Export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78608"/>
            <a:ext cx="4526280" cy="2651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Perfective / Normal Change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+8 man-hours impact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แตะ Product + Repository + ConsoleUI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เพิ่ม test สำหรับ barcode / reorder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578608"/>
            <a:ext cx="4526280" cy="2651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Emergency / Fast-Track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4.5 h × 300 = 1,350 THB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เพิ่ม CsvReportExporter ตาม SRP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อนุมัติผ่าน CCB และดึง reserve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87568" y="3246120"/>
            <a:ext cx="804672" cy="658368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05856" y="3319272"/>
            <a:ext cx="7680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H Sarabun New"/>
              </a:rPr>
              <a:t>CCB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Phase3/Sprint3/sprint3.md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EA580C"/>
                </a:solidFill>
                <a:latin typeface="TH Sarabun New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TH Sarabun New"/>
              </a:rPr>
              <a:t>SPRINT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BUG-101: จาก Defect สู่ Permanent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แก้ที่ root cause ไม่ใช่แค่ปิดอาการ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783080"/>
            <a:ext cx="5358384" cy="1664208"/>
          </a:xfrm>
          <a:prstGeom prst="roundRect">
            <a:avLst/>
          </a:prstGeom>
          <a:solidFill>
            <a:srgbClr val="FDEC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91440" cy="1664208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29384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อาการ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31720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KeyError: 'barcode' เมื่อโหลด data.json รุ่นเก่าที่ไม่มีฟิลด์ใหม่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83080"/>
            <a:ext cx="5358384" cy="1664208"/>
          </a:xfrm>
          <a:prstGeom prst="roundRect">
            <a:avLst/>
          </a:prstGeom>
          <a:solidFill>
            <a:srgbClr val="FFF1E8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783080"/>
            <a:ext cx="91440" cy="1664208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929384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Root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331720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Schema ใหม่ไม่มี Data Validation/default fallback ในชั้น Repository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85032"/>
            <a:ext cx="5358384" cy="1664208"/>
          </a:xfrm>
          <a:prstGeom prst="roundRect">
            <a:avLst/>
          </a:prstGeom>
          <a:solidFill>
            <a:srgbClr val="EAF7EE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685032"/>
            <a:ext cx="91440" cy="1664208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31336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233672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dict.get('barcode','') และ reorder_point default =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685032"/>
            <a:ext cx="5358384" cy="1664208"/>
          </a:xfrm>
          <a:prstGeom prst="roundRect">
            <a:avLst/>
          </a:prstGeom>
          <a:solidFill>
            <a:srgbClr val="E6F7FA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685032"/>
            <a:ext cx="91440" cy="1664208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831336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Prevention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233672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Defect-driven test + backward compatibility test เป็น regression ถาวร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Phase3/Sprint3/sprint3.md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EA580C"/>
                </a:solidFill>
                <a:latin typeface="TH Sarabun New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TH Sarabun New"/>
              </a:rPr>
              <a:t>SPRINT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Progress / Flow /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ตัวเลขสำคัญก่อนแช่แข็งขอบเขต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91440" cy="1078992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5803D"/>
                </a:solidFill>
                <a:latin typeface="TH Sarabun New"/>
              </a:rPr>
              <a:t>27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Burnup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39" y="1828800"/>
            <a:ext cx="91440" cy="10789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TH Sarabun New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WIP Limit: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91440" cy="1078992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A580C"/>
                </a:solidFill>
                <a:latin typeface="TH Sarabun New"/>
              </a:rPr>
              <a:t>1,350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Reserve Used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59" y="1828800"/>
            <a:ext cx="91440" cy="107899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59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891B2"/>
                </a:solidFill>
                <a:latin typeface="TH Sarabun New"/>
              </a:rPr>
              <a:t>1,473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Reserve Left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18688"/>
            <a:ext cx="109728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456432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0B1736"/>
                </a:solidFill>
                <a:latin typeface="TH Sarabun New"/>
              </a:rPr>
              <a:t>อ่านค่าร่วมกัน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858768"/>
            <a:ext cx="10241280" cy="1508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Burnup = 93% เหลือ 2 points ก่อน release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WIP Limit 3 ใบช่วยลดงานค้างใน Review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EVM Sprint 1 ที่ติดตามย้อนหลัง: PV 4,000 · EV 3,000 · AC 4,200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Scope Freeze อนุญาตหลัง freeze เฉพาะ Critical bug / Security fix / Test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Phase3/Sprint3/sprint3.md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EA580C"/>
                </a:solidFill>
                <a:latin typeface="TH Sarabun New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TH Sarabun New"/>
              </a:rPr>
              <a:t>SPRINT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Retrospective: Mad / Sad / Glad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บทเรียนถูกเปลี่ยนเป็น action ที่วัดได้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783080"/>
            <a:ext cx="5358384" cy="1664208"/>
          </a:xfrm>
          <a:prstGeom prst="roundRect">
            <a:avLst/>
          </a:prstGeom>
          <a:solidFill>
            <a:srgbClr val="FDEC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91440" cy="1664208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29384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Mad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31720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เสียเวลา merge conflict จากการตัดโครงสร้างใหญ่ในครั้งเดียว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83080"/>
            <a:ext cx="5358384" cy="1664208"/>
          </a:xfrm>
          <a:prstGeom prst="roundRect">
            <a:avLst/>
          </a:prstGeom>
          <a:solidFill>
            <a:srgbClr val="FFF1E8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783080"/>
            <a:ext cx="91440" cy="1664208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929384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Sad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331720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ประเมิน refactor ต่ำกว่าจริง เพราะ technical debt ใน app_v1.py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85032"/>
            <a:ext cx="5358384" cy="1664208"/>
          </a:xfrm>
          <a:prstGeom prst="roundRect">
            <a:avLst/>
          </a:prstGeom>
          <a:solidFill>
            <a:srgbClr val="EAF7EE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685032"/>
            <a:ext cx="91440" cy="1664208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31336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Glad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233672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PyTest จับ defect ได้ก่อน demo และทีมแก้ conflict สำเร็จ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685032"/>
            <a:ext cx="5358384" cy="1664208"/>
          </a:xfrm>
          <a:prstGeom prst="roundRect">
            <a:avLst/>
          </a:prstGeom>
          <a:solidFill>
            <a:srgbClr val="EAF2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685032"/>
            <a:ext cx="91440" cy="166420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831336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233672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แจ้ง blocker ทุกวัน · PR review ≤12h · ใช้ TDR/เขียนเทสต์ก่อนโค้ด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Phase3/Sprint3/sprint3.md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EA580C"/>
                </a:solidFill>
                <a:latin typeface="TH Sarabun New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TH Sarabun New"/>
              </a:rPr>
              <a:t>SPRINT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Sprint Review &amp;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สิ่งที่ยืนยันได้จากหลักฐาน และสิ่งที่ส่งต่อไปยังรอบถัดไป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783080"/>
            <a:ext cx="3493008" cy="4297680"/>
          </a:xfrm>
          <a:prstGeom prst="roundRect">
            <a:avLst/>
          </a:prstGeom>
          <a:solidFill>
            <a:srgbClr val="EAF7EE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1168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5803D"/>
                </a:solidFill>
                <a:latin typeface="TH Sarabun New"/>
              </a:rPr>
              <a:t>ส่งมอบแล้ว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542032"/>
            <a:ext cx="2971800" cy="2971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CR-01 / CR-02 ทำงานจริง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BUG-101 แก้พร้อม regression test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Hardening + Scope Freeze 29 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83080"/>
            <a:ext cx="3493008" cy="4297680"/>
          </a:xfrm>
          <a:prstGeom prst="roundRect">
            <a:avLst/>
          </a:prstGeom>
          <a:solidFill>
            <a:srgbClr val="FDEC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01168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91C1C"/>
                </a:solidFill>
                <a:latin typeface="TH Sarabun New"/>
              </a:rPr>
              <a:t>ความเสี่ยง/ข้อจำกัด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542032"/>
            <a:ext cx="2971800" cy="2971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เหลือ 2 points ใน burnup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E501 ยังอยู่ ณ W11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UAT formal sign-off ยังรอ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783080"/>
            <a:ext cx="3493008" cy="4297680"/>
          </a:xfrm>
          <a:prstGeom prst="roundRect">
            <a:avLst/>
          </a:prstGeom>
          <a:solidFill>
            <a:srgbClr val="EAF2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201168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EA580C"/>
                </a:solidFill>
                <a:latin typeface="TH Sarabun New"/>
              </a:rPr>
              <a:t>งานส่งต่อ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2542032"/>
            <a:ext cx="2971800" cy="2971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ปิด 29/29 และรัน UAT SC01–03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ทำ Release Checklist + Final EVM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แก้ E501 และสร้าง release tag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Phase3/Sprint3/sprint3.md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EA580C"/>
                </a:solidFill>
                <a:latin typeface="TH Sarabun New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
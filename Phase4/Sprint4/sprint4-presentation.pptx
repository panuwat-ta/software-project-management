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94360"/>
            <a:ext cx="18288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5803D"/>
                </a:solidFill>
                <a:latin typeface="TH Sarabun New"/>
              </a:rPr>
              <a:t>SPRINT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TH Sarabun New"/>
              </a:rPr>
              <a:t>UAT และปล่อยรุ่น v2.0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C7D2FE"/>
                </a:solidFill>
                <a:latin typeface="TH Sarabun New"/>
              </a:rPr>
              <a:t>ปิดวงจร W1–W12 ด้วย User Acceptance, Release Gate และ Final EVM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886200"/>
            <a:ext cx="3246120" cy="1143000"/>
          </a:xfrm>
          <a:prstGeom prst="roundRect">
            <a:avLst/>
          </a:prstGeom>
          <a:solidFill>
            <a:srgbClr val="13244B"/>
          </a:solidFill>
          <a:ln>
            <a:solidFill>
              <a:srgbClr val="284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4050791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TH Sarabun New"/>
              </a:rPr>
              <a:t>5 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4498848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4E4"/>
                </a:solidFill>
                <a:latin typeface="TH Sarabun New"/>
              </a:rPr>
              <a:t>SPM-20 + SPM-21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886200"/>
            <a:ext cx="3246120" cy="1143000"/>
          </a:xfrm>
          <a:prstGeom prst="roundRect">
            <a:avLst/>
          </a:prstGeom>
          <a:solidFill>
            <a:srgbClr val="13244B"/>
          </a:solidFill>
          <a:ln>
            <a:solidFill>
              <a:srgbClr val="284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4050791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TH Sarabun New"/>
              </a:rPr>
              <a:t>25/25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4498848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4E4"/>
                </a:solidFill>
                <a:latin typeface="TH Sarabun New"/>
              </a:rPr>
              <a:t>Regression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3886200"/>
            <a:ext cx="3246120" cy="1143000"/>
          </a:xfrm>
          <a:prstGeom prst="roundRect">
            <a:avLst/>
          </a:prstGeom>
          <a:solidFill>
            <a:srgbClr val="13244B"/>
          </a:solidFill>
          <a:ln>
            <a:solidFill>
              <a:srgbClr val="284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0728" y="4050791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TH Sarabun New"/>
              </a:rPr>
              <a:t>v2.0.0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0728" y="4498848"/>
            <a:ext cx="2743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4E4"/>
                </a:solidFill>
                <a:latin typeface="TH Sarabun New"/>
              </a:rPr>
              <a:t>Evolution Release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989320"/>
            <a:ext cx="4937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B8C4E4"/>
                </a:solidFill>
                <a:latin typeface="TH Sarabun New"/>
              </a:rPr>
              <a:t>Phase 4 · W12 · Jira Sprint ID 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5989320"/>
            <a:ext cx="5760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50" b="0">
                <a:solidFill>
                  <a:srgbClr val="8393B6"/>
                </a:solidFill>
                <a:latin typeface="TH Sarabun New"/>
              </a:rPr>
              <a:t>Software Project Management · ข้อมูลสมมติเพื่อการเรียน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5803D"/>
                </a:solidFill>
                <a:latin typeface="TH Sarabun New"/>
              </a:rPr>
              <a:t>SPRINT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B1736"/>
                </a:solidFill>
                <a:latin typeface="TH Sarabun New"/>
              </a:rPr>
              <a:t>ภาพรวมสปรินต์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97280"/>
            <a:ext cx="10881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TH Sarabun New"/>
              </a:rPr>
              <a:t>ยืนยันว่าฟีเจอร์ evolution พร้อมใช้งานจริงทางเทคนิค และปิดสถานะโครงการด้าน release/งบ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490472"/>
            <a:ext cx="11128248" cy="0"/>
          </a:xfrm>
          <a:prstGeom prst="line">
            <a:avLst/>
          </a:prstGeom>
          <a:ln w="1524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1783080"/>
            <a:ext cx="2615184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783080"/>
            <a:ext cx="91440" cy="1078992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892807"/>
            <a:ext cx="229514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5803D"/>
                </a:solidFill>
                <a:latin typeface="TH Sarabun New"/>
              </a:rPr>
              <a:t>W12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386584"/>
            <a:ext cx="22951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ช่วงงาน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1783080"/>
            <a:ext cx="2615184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7288" y="1783080"/>
            <a:ext cx="91440" cy="1078992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7" y="1892807"/>
            <a:ext cx="229514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5803D"/>
                </a:solidFill>
                <a:latin typeface="TH Sarabun New"/>
              </a:rPr>
              <a:t>5 SP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2386584"/>
            <a:ext cx="22951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ปิดครบ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783080"/>
            <a:ext cx="2615184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27648" y="1783080"/>
            <a:ext cx="91440" cy="1078992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1892807"/>
            <a:ext cx="229514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5803D"/>
                </a:solidFill>
                <a:latin typeface="TH Sarabun New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2386584"/>
            <a:ext cx="22951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Issues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08007" y="1783080"/>
            <a:ext cx="2615184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08007" y="1783080"/>
            <a:ext cx="91440" cy="1078992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36607" y="1892807"/>
            <a:ext cx="229514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5803D"/>
                </a:solidFill>
                <a:latin typeface="TH Sarabun New"/>
              </a:rPr>
              <a:t>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36607" y="2386584"/>
            <a:ext cx="22951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154680"/>
            <a:ext cx="4937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B1736"/>
                </a:solidFill>
                <a:latin typeface="TH Sarabun New"/>
              </a:rPr>
              <a:t>ทีมและความรับผิดชอบ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584448"/>
            <a:ext cx="53218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3657600"/>
            <a:ext cx="19202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11827"/>
                </a:solidFill>
                <a:latin typeface="TH Sarabun New"/>
              </a:rPr>
              <a:t>ภานุวัฒน์ ต๋าคำ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3895344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5803D"/>
                </a:solidFill>
                <a:latin typeface="TH Sarabun New"/>
              </a:rPr>
              <a:t>PM / Developer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3657600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0">
                <a:solidFill>
                  <a:srgbClr val="64748B"/>
                </a:solidFill>
                <a:latin typeface="TH Sarabun New"/>
              </a:rPr>
              <a:t>Release checklist · Final EVM · procurement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370832"/>
            <a:ext cx="53218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4443984"/>
            <a:ext cx="19202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11827"/>
                </a:solidFill>
                <a:latin typeface="TH Sarabun New"/>
              </a:rPr>
              <a:t>เอกพันธ์ ทศทิศรังสรรค์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4681728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5803D"/>
                </a:solidFill>
                <a:latin typeface="TH Sarabun New"/>
              </a:rPr>
              <a:t>QA / Tester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4443984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0">
                <a:solidFill>
                  <a:srgbClr val="64748B"/>
                </a:solidFill>
                <a:latin typeface="TH Sarabun New"/>
              </a:rPr>
              <a:t>UAT scenarios · cross-team test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157216"/>
            <a:ext cx="532180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5230368"/>
            <a:ext cx="19202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11827"/>
                </a:solidFill>
                <a:latin typeface="TH Sarabun New"/>
              </a:rPr>
              <a:t>ณฐภาพ สายหล้า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" y="5468112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5803D"/>
                </a:solidFill>
                <a:latin typeface="TH Sarabun New"/>
              </a:rPr>
              <a:t>Tech Lead / Architect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88920" y="5230368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0">
                <a:solidFill>
                  <a:srgbClr val="64748B"/>
                </a:solidFill>
                <a:latin typeface="TH Sarabun New"/>
              </a:rPr>
              <a:t>Release gate · merge main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154680"/>
            <a:ext cx="4937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B1736"/>
                </a:solidFill>
                <a:latin typeface="TH Sarabun New"/>
              </a:rPr>
              <a:t>เป้าหมายหลัก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547872"/>
            <a:ext cx="5120640" cy="22402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  <a:defRPr sz="1550">
                <a:solidFill>
                  <a:srgbClr val="111827"/>
                </a:solidFill>
                <a:latin typeface="TH Sarabun New"/>
              </a:defRPr>
            </a:pPr>
            <a:r>
              <a:t>• รวม CR-01, CR-02 และ BUG-101 fix เข้ารุ่น v2.0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550">
                <a:solidFill>
                  <a:srgbClr val="111827"/>
                </a:solidFill>
                <a:latin typeface="TH Sarabun New"/>
              </a:defRPr>
            </a:pPr>
            <a:r>
              <a:t>• ขยาย test suite จาก 5 → 25 เคส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550">
                <a:solidFill>
                  <a:srgbClr val="111827"/>
                </a:solidFill>
                <a:latin typeface="TH Sarabun New"/>
              </a:defRPr>
            </a:pPr>
            <a:r>
              <a:t>• รัน UAT SC01–SC03 และตรวจ release gate 3 ด่าน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550">
                <a:solidFill>
                  <a:srgbClr val="111827"/>
                </a:solidFill>
                <a:latin typeface="TH Sarabun New"/>
              </a:defRPr>
            </a:pPr>
            <a:r>
              <a:t>• สรุป Final EVM และออก annotated tag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30352" y="6455664"/>
            <a:ext cx="11128248" cy="0"/>
          </a:xfrm>
          <a:prstGeom prst="line">
            <a:avLst/>
          </a:prstGeom>
          <a:ln w="1016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30352" y="6473952"/>
            <a:ext cx="9875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TH Sarabun New"/>
              </a:rPr>
              <a:t>Source: Phase4/Sprint4/sprint4.md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55664"/>
            <a:ext cx="640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15803D"/>
                </a:solidFill>
                <a:latin typeface="TH Sarabun New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5803D"/>
                </a:solidFill>
                <a:latin typeface="TH Sarabun New"/>
              </a:rPr>
              <a:t>SPRINT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B1736"/>
                </a:solidFill>
                <a:latin typeface="TH Sarabun New"/>
              </a:rPr>
              <a:t>Release Flow ใน W12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97280"/>
            <a:ext cx="10881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TH Sarabun New"/>
              </a:rPr>
              <a:t>จาก code complete → acceptance → technical gate → release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490472"/>
            <a:ext cx="11128248" cy="0"/>
          </a:xfrm>
          <a:prstGeom prst="line">
            <a:avLst/>
          </a:prstGeom>
          <a:ln w="1524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0120" y="2926080"/>
            <a:ext cx="10241280" cy="0"/>
          </a:xfrm>
          <a:prstGeom prst="line">
            <a:avLst/>
          </a:prstGeom>
          <a:ln w="38100">
            <a:solidFill>
              <a:srgbClr val="B9C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813816" y="2779776"/>
            <a:ext cx="292608" cy="292608"/>
          </a:xfrm>
          <a:prstGeom prst="ellipse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148840"/>
            <a:ext cx="1188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5803D"/>
                </a:solidFill>
                <a:latin typeface="TH Sarabun New"/>
              </a:rPr>
              <a:t>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182879" y="3218688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1736"/>
                </a:solidFill>
                <a:latin typeface="TH Sarabun New"/>
              </a:rPr>
              <a:t>รวมฟีเจอร์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274320" y="3675887"/>
            <a:ext cx="2468880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10" b="0">
                <a:solidFill>
                  <a:srgbClr val="64748B"/>
                </a:solidFill>
                <a:latin typeface="TH Sarabun New"/>
              </a:rPr>
              <a:t>Barcode · ROP · CSV · BUG-101</a:t>
            </a:r>
          </a:p>
        </p:txBody>
      </p:sp>
      <p:sp>
        <p:nvSpPr>
          <p:cNvPr id="11" name="Oval 10"/>
          <p:cNvSpPr/>
          <p:nvPr/>
        </p:nvSpPr>
        <p:spPr>
          <a:xfrm>
            <a:off x="4227576" y="2779776"/>
            <a:ext cx="292608" cy="292608"/>
          </a:xfrm>
          <a:prstGeom prst="ellipse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9519" y="2148840"/>
            <a:ext cx="1188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5803D"/>
                </a:solidFill>
                <a:latin typeface="TH Sarabun New"/>
              </a:rPr>
              <a:t>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0880" y="3218688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1736"/>
                </a:solidFill>
                <a:latin typeface="TH Sarabun New"/>
              </a:rPr>
              <a:t>Regression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9440" y="3675887"/>
            <a:ext cx="2468880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10" b="0">
                <a:solidFill>
                  <a:srgbClr val="64748B"/>
                </a:solidFill>
                <a:latin typeface="TH Sarabun New"/>
              </a:rPr>
              <a:t>25 เคสผ่าน</a:t>
            </a:r>
          </a:p>
        </p:txBody>
      </p:sp>
      <p:sp>
        <p:nvSpPr>
          <p:cNvPr id="15" name="Oval 14"/>
          <p:cNvSpPr/>
          <p:nvPr/>
        </p:nvSpPr>
        <p:spPr>
          <a:xfrm>
            <a:off x="7641335" y="2779776"/>
            <a:ext cx="292608" cy="292608"/>
          </a:xfrm>
          <a:prstGeom prst="ellipse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93279" y="2148840"/>
            <a:ext cx="1188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5803D"/>
                </a:solidFill>
                <a:latin typeface="TH Sarabun New"/>
              </a:rPr>
              <a:t>UAT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39" y="3218688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1736"/>
                </a:solidFill>
                <a:latin typeface="TH Sarabun New"/>
              </a:rPr>
              <a:t>SC01–03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199" y="3675887"/>
            <a:ext cx="2468880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10" b="0">
                <a:solidFill>
                  <a:srgbClr val="64748B"/>
                </a:solidFill>
                <a:latin typeface="TH Sarabun New"/>
              </a:rPr>
              <a:t>เพิ่มสินค้า · ตัดสต็อก · Export CSV</a:t>
            </a:r>
          </a:p>
        </p:txBody>
      </p:sp>
      <p:sp>
        <p:nvSpPr>
          <p:cNvPr id="19" name="Oval 18"/>
          <p:cNvSpPr/>
          <p:nvPr/>
        </p:nvSpPr>
        <p:spPr>
          <a:xfrm>
            <a:off x="11055096" y="2779776"/>
            <a:ext cx="292608" cy="292608"/>
          </a:xfrm>
          <a:prstGeom prst="ellipse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0" y="2148840"/>
            <a:ext cx="1188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5803D"/>
                </a:solidFill>
                <a:latin typeface="TH Sarabun New"/>
              </a:rPr>
              <a:t>Release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218688"/>
            <a:ext cx="22860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1736"/>
                </a:solidFill>
                <a:latin typeface="TH Sarabun New"/>
              </a:rPr>
              <a:t>v2.0.0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3675887"/>
            <a:ext cx="2468880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10" b="0">
                <a:solidFill>
                  <a:srgbClr val="64748B"/>
                </a:solidFill>
                <a:latin typeface="TH Sarabun New"/>
              </a:rPr>
              <a:t>Merge · Tag · Release Note · Final EVM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30352" y="6455664"/>
            <a:ext cx="11128248" cy="0"/>
          </a:xfrm>
          <a:prstGeom prst="line">
            <a:avLst/>
          </a:prstGeom>
          <a:ln w="1016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30352" y="6473952"/>
            <a:ext cx="9875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TH Sarabun New"/>
              </a:rPr>
              <a:t>Source: Phase4/Sprint4/sprint4.md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55664"/>
            <a:ext cx="640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15803D"/>
                </a:solidFill>
                <a:latin typeface="TH Sarabun New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5803D"/>
                </a:solidFill>
                <a:latin typeface="TH Sarabun New"/>
              </a:rPr>
              <a:t>SPRINT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B1736"/>
                </a:solidFill>
                <a:latin typeface="TH Sarabun New"/>
              </a:rPr>
              <a:t>วิวัฒนาการจาก v1.0 → v2.0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490472"/>
            <a:ext cx="11128248" cy="0"/>
          </a:xfrm>
          <a:prstGeom prst="line">
            <a:avLst/>
          </a:prstGeom>
          <a:ln w="1524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21792" y="1828800"/>
            <a:ext cx="516636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0" y="1828800"/>
            <a:ext cx="516636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29968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B91C1C"/>
                </a:solidFill>
                <a:latin typeface="TH Sarabun New"/>
              </a:rPr>
              <a:t>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6832" y="2029968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15803D"/>
                </a:solidFill>
                <a:latin typeface="TH Sarabun New"/>
              </a:rPr>
              <a:t>v2.0.0-evolution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78608"/>
            <a:ext cx="4526280" cy="2651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defRPr sz="1500">
                <a:solidFill>
                  <a:srgbClr val="111827"/>
                </a:solidFill>
                <a:latin typeface="TH Sarabun New"/>
              </a:defRPr>
            </a:pPr>
            <a:r>
              <a:t>• JSON เขียนทับตรง</a:t>
            </a:r>
          </a:p>
          <a:p>
            <a:pPr>
              <a:lnSpc>
                <a:spcPct val="110000"/>
              </a:lnSpc>
              <a:spcAft>
                <a:spcPts val="1200"/>
              </a:spcAft>
              <a:defRPr sz="1500">
                <a:solidFill>
                  <a:srgbClr val="111827"/>
                </a:solidFill>
                <a:latin typeface="TH Sarabun New"/>
              </a:defRPr>
            </a:pPr>
            <a:r>
              <a:t>• Monolithic + global x</a:t>
            </a:r>
          </a:p>
          <a:p>
            <a:pPr>
              <a:lnSpc>
                <a:spcPct val="110000"/>
              </a:lnSpc>
              <a:spcAft>
                <a:spcPts val="1200"/>
              </a:spcAft>
              <a:defRPr sz="1500">
                <a:solidFill>
                  <a:srgbClr val="111827"/>
                </a:solidFill>
                <a:latin typeface="TH Sarabun New"/>
              </a:defRPr>
            </a:pPr>
            <a:r>
              <a:t>• ไม่มี Barcode / CSV</a:t>
            </a:r>
          </a:p>
          <a:p>
            <a:pPr>
              <a:lnSpc>
                <a:spcPct val="110000"/>
              </a:lnSpc>
              <a:spcAft>
                <a:spcPts val="1200"/>
              </a:spcAft>
              <a:defRPr sz="1500">
                <a:solidFill>
                  <a:srgbClr val="111827"/>
                </a:solidFill>
                <a:latin typeface="TH Sarabun New"/>
              </a:defRPr>
            </a:pPr>
            <a:r>
              <a:t>• 5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578608"/>
            <a:ext cx="4526280" cy="2651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defRPr sz="1500">
                <a:solidFill>
                  <a:srgbClr val="111827"/>
                </a:solidFill>
                <a:latin typeface="TH Sarabun New"/>
              </a:defRPr>
            </a:pPr>
            <a:r>
              <a:t>• JSON + atomic write</a:t>
            </a:r>
          </a:p>
          <a:p>
            <a:pPr>
              <a:lnSpc>
                <a:spcPct val="110000"/>
              </a:lnSpc>
              <a:spcAft>
                <a:spcPts val="1200"/>
              </a:spcAft>
              <a:defRPr sz="1500">
                <a:solidFill>
                  <a:srgbClr val="111827"/>
                </a:solidFill>
                <a:latin typeface="TH Sarabun New"/>
              </a:defRPr>
            </a:pPr>
            <a:r>
              <a:t>• OOP 3 คลาส แยก Logic/UI</a:t>
            </a:r>
          </a:p>
          <a:p>
            <a:pPr>
              <a:lnSpc>
                <a:spcPct val="110000"/>
              </a:lnSpc>
              <a:spcAft>
                <a:spcPts val="1200"/>
              </a:spcAft>
              <a:defRPr sz="1500">
                <a:solidFill>
                  <a:srgbClr val="111827"/>
                </a:solidFill>
                <a:latin typeface="TH Sarabun New"/>
              </a:defRPr>
            </a:pPr>
            <a:r>
              <a:t>• Barcode + Reorder Point + CSV</a:t>
            </a:r>
          </a:p>
          <a:p>
            <a:pPr>
              <a:lnSpc>
                <a:spcPct val="110000"/>
              </a:lnSpc>
              <a:spcAft>
                <a:spcPts val="1200"/>
              </a:spcAft>
              <a:defRPr sz="1500">
                <a:solidFill>
                  <a:srgbClr val="111827"/>
                </a:solidFill>
                <a:latin typeface="TH Sarabun New"/>
              </a:defRPr>
            </a:pPr>
            <a:r>
              <a:t>• 25 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87568" y="3246120"/>
            <a:ext cx="804672" cy="658368"/>
          </a:xfrm>
          <a:prstGeom prst="round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05856" y="3319272"/>
            <a:ext cx="7680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H Sarabun New"/>
              </a:rPr>
              <a:t>→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0352" y="6455664"/>
            <a:ext cx="11128248" cy="0"/>
          </a:xfrm>
          <a:prstGeom prst="line">
            <a:avLst/>
          </a:prstGeom>
          <a:ln w="1016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0352" y="6473952"/>
            <a:ext cx="9875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TH Sarabun New"/>
              </a:rPr>
              <a:t>Source: Phase4/Sprint4/sprint4.md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55664"/>
            <a:ext cx="640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15803D"/>
                </a:solidFill>
                <a:latin typeface="TH Sarabun New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5803D"/>
                </a:solidFill>
                <a:latin typeface="TH Sarabun New"/>
              </a:rPr>
              <a:t>SPRINT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B1736"/>
                </a:solidFill>
                <a:latin typeface="TH Sarabun New"/>
              </a:rPr>
              <a:t>UAT SC01–SC03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97280"/>
            <a:ext cx="10881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TH Sarabun New"/>
              </a:rPr>
              <a:t>ผลทางเทคนิคผ่านครบ แต่ formal sign-off ยังรอลายเซ็น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490472"/>
            <a:ext cx="11128248" cy="0"/>
          </a:xfrm>
          <a:prstGeom prst="line">
            <a:avLst/>
          </a:prstGeom>
          <a:ln w="1524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783080"/>
            <a:ext cx="5358384" cy="1664208"/>
          </a:xfrm>
          <a:prstGeom prst="roundRect">
            <a:avLst/>
          </a:prstGeom>
          <a:solidFill>
            <a:srgbClr val="EAF7EE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91440" cy="1664208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929384"/>
            <a:ext cx="4754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1736"/>
                </a:solidFill>
                <a:latin typeface="TH Sarabun New"/>
              </a:rPr>
              <a:t>SC01 · Inventory 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929384"/>
            <a:ext cx="1143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5803D"/>
                </a:solidFill>
                <a:latin typeface="TH Sarabun New"/>
              </a:rPr>
              <a:t>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331720"/>
            <a:ext cx="473659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64748B"/>
                </a:solidFill>
                <a:latin typeface="TH Sarabun New"/>
              </a:rPr>
              <a:t>เพิ่ม Milk (885) จำนวน 10 · ROP 5 → บันทึกสำเร็จ ไม่ crash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783080"/>
            <a:ext cx="5358384" cy="1664208"/>
          </a:xfrm>
          <a:prstGeom prst="roundRect">
            <a:avLst/>
          </a:prstGeom>
          <a:solidFill>
            <a:srgbClr val="EAF7EE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783080"/>
            <a:ext cx="91440" cy="1664208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929384"/>
            <a:ext cx="4754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1736"/>
                </a:solidFill>
                <a:latin typeface="TH Sarabun New"/>
              </a:rPr>
              <a:t>SC02 · Store Cashier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1929384"/>
            <a:ext cx="1143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5803D"/>
                </a:solidFill>
                <a:latin typeface="TH Sarabun New"/>
              </a:rPr>
              <a:t>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331720"/>
            <a:ext cx="473659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64748B"/>
                </a:solidFill>
                <a:latin typeface="TH Sarabun New"/>
              </a:rPr>
              <a:t>ตัดสต็อก 6 เหลือ 4 → ระบบแจ้ง low stock ทันที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685032"/>
            <a:ext cx="5358384" cy="1664208"/>
          </a:xfrm>
          <a:prstGeom prst="roundRect">
            <a:avLst/>
          </a:prstGeom>
          <a:solidFill>
            <a:srgbClr val="EAF7EE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685032"/>
            <a:ext cx="91440" cy="1664208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831336"/>
            <a:ext cx="4754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1736"/>
                </a:solidFill>
                <a:latin typeface="TH Sarabun New"/>
              </a:rPr>
              <a:t>SC03 · Purchasing Officer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831336"/>
            <a:ext cx="1143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5803D"/>
                </a:solidFill>
                <a:latin typeface="TH Sarabun New"/>
              </a:rPr>
              <a:t>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4233672"/>
            <a:ext cx="473659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64748B"/>
                </a:solidFill>
                <a:latin typeface="TH Sarabun New"/>
              </a:rPr>
              <a:t>Export CSV เปิดใน Excel → มี Barcode และข้อมูลถูกต้อง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685032"/>
            <a:ext cx="5358384" cy="1664208"/>
          </a:xfrm>
          <a:prstGeom prst="roundRect">
            <a:avLst/>
          </a:prstGeom>
          <a:solidFill>
            <a:srgbClr val="FFF1E8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3685032"/>
            <a:ext cx="91440" cy="1664208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3831336"/>
            <a:ext cx="4754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1736"/>
                </a:solidFill>
                <a:latin typeface="TH Sarabun New"/>
              </a:rPr>
              <a:t>Formal Sign-off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3831336"/>
            <a:ext cx="1143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EA580C"/>
                </a:solidFill>
                <a:latin typeface="TH Sarabun New"/>
              </a:rPr>
              <a:t>WAIT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4233672"/>
            <a:ext cx="473659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64748B"/>
                </a:solidFill>
                <a:latin typeface="TH Sarabun New"/>
              </a:rPr>
              <a:t>ช่องลายเซ็นผู้ทดสอบและ Tech Lead ยังว่าง จึงไม่อ้างว่ารับรองทางการเสร็จแล้ว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30352" y="6455664"/>
            <a:ext cx="11128248" cy="0"/>
          </a:xfrm>
          <a:prstGeom prst="line">
            <a:avLst/>
          </a:prstGeom>
          <a:ln w="1016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30352" y="6473952"/>
            <a:ext cx="9875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TH Sarabun New"/>
              </a:rPr>
              <a:t>Source: Phase4/Sprint4/sprint4.md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55664"/>
            <a:ext cx="640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15803D"/>
                </a:solidFill>
                <a:latin typeface="TH Sarabun New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5803D"/>
                </a:solidFill>
                <a:latin typeface="TH Sarabun New"/>
              </a:rPr>
              <a:t>SPRINT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B1736"/>
                </a:solidFill>
                <a:latin typeface="TH Sarabun New"/>
              </a:rPr>
              <a:t>Final EVM และเงินสำรอง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97280"/>
            <a:ext cx="10881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TH Sarabun New"/>
              </a:rPr>
              <a:t>ส่งงานตรงเวลา แต่ต้นทุนจริงสูงกว่าแผนเล็กน้อย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490472"/>
            <a:ext cx="11128248" cy="0"/>
          </a:xfrm>
          <a:prstGeom prst="line">
            <a:avLst/>
          </a:prstGeom>
          <a:ln w="1524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828800"/>
            <a:ext cx="26060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91440" cy="1078992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5803D"/>
                </a:solidFill>
                <a:latin typeface="TH Sarabun New"/>
              </a:rPr>
              <a:t>1.00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32304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SPI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828800"/>
            <a:ext cx="26060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39" y="1828800"/>
            <a:ext cx="91440" cy="1078992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938528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EA580C"/>
                </a:solidFill>
                <a:latin typeface="TH Sarabun New"/>
              </a:rPr>
              <a:t>0.96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432304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CPI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828800"/>
            <a:ext cx="26060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828800"/>
            <a:ext cx="91440" cy="1078992"/>
          </a:xfrm>
          <a:prstGeom prst="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938528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B91C1C"/>
                </a:solidFill>
                <a:latin typeface="TH Sarabun New"/>
              </a:rPr>
              <a:t>−575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432304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CV (THB)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59" y="1828800"/>
            <a:ext cx="26060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81159" y="1828800"/>
            <a:ext cx="91440" cy="10789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59" y="1938528"/>
            <a:ext cx="2286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563EB"/>
                </a:solidFill>
                <a:latin typeface="TH Sarabun New"/>
              </a:rPr>
              <a:t>898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59" y="2432304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TH Sarabun New"/>
              </a:rPr>
              <a:t>Reserve Left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218688"/>
            <a:ext cx="109728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456432"/>
            <a:ext cx="2743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0B1736"/>
                </a:solidFill>
                <a:latin typeface="TH Sarabun New"/>
              </a:rPr>
              <a:t>อ่านค่าร่วมกัน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858768"/>
            <a:ext cx="10241280" cy="1508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  <a:defRPr sz="1460">
                <a:solidFill>
                  <a:srgbClr val="111827"/>
                </a:solidFill>
                <a:latin typeface="TH Sarabun New"/>
              </a:defRPr>
            </a:pPr>
            <a:r>
              <a:t>• PV = EV = 15,525 THB → เสร็จตามแผน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460">
                <a:solidFill>
                  <a:srgbClr val="111827"/>
                </a:solidFill>
                <a:latin typeface="TH Sarabun New"/>
              </a:defRPr>
            </a:pPr>
            <a:r>
              <a:t>• AC = 16,100 THB → เกิน 575 THB หรือ 3.7%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460">
                <a:solidFill>
                  <a:srgbClr val="111827"/>
                </a:solidFill>
                <a:latin typeface="TH Sarabun New"/>
              </a:defRPr>
            </a:pPr>
            <a:r>
              <a:t>• Reserve: 2,823 − 1,350 (CR-02) − 575 (close-out) = 898 THB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0352" y="6455664"/>
            <a:ext cx="11128248" cy="0"/>
          </a:xfrm>
          <a:prstGeom prst="line">
            <a:avLst/>
          </a:prstGeom>
          <a:ln w="1016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0352" y="6473952"/>
            <a:ext cx="9875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TH Sarabun New"/>
              </a:rPr>
              <a:t>Source: Phase4/Sprint4/sprint4.md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55664"/>
            <a:ext cx="640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15803D"/>
                </a:solidFill>
                <a:latin typeface="TH Sarabun New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5803D"/>
                </a:solidFill>
                <a:latin typeface="TH Sarabun New"/>
              </a:rPr>
              <a:t>SPRINT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B1736"/>
                </a:solidFill>
                <a:latin typeface="TH Sarabun New"/>
              </a:rPr>
              <a:t>Release Checklist และ Changelog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97280"/>
            <a:ext cx="10881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TH Sarabun New"/>
              </a:rPr>
              <a:t>สิ่งที่ถูกยืนยันก่อน/หลัง tag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490472"/>
            <a:ext cx="11128248" cy="0"/>
          </a:xfrm>
          <a:prstGeom prst="line">
            <a:avLst/>
          </a:prstGeom>
          <a:ln w="1524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783080"/>
            <a:ext cx="5358384" cy="1664208"/>
          </a:xfrm>
          <a:prstGeom prst="roundRect">
            <a:avLst/>
          </a:prstGeom>
          <a:solidFill>
            <a:srgbClr val="EAF7EE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91440" cy="1664208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929384"/>
            <a:ext cx="4754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1736"/>
                </a:solidFill>
                <a:latin typeface="TH Sarabun New"/>
              </a:rPr>
              <a:t>Gate 1 ·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31720"/>
            <a:ext cx="473659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64748B"/>
                </a:solidFill>
                <a:latin typeface="TH Sarabun New"/>
              </a:rPr>
              <a:t>UAT SC01–03 ผ่านและแยกประเด็น defect/change request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783080"/>
            <a:ext cx="5358384" cy="1664208"/>
          </a:xfrm>
          <a:prstGeom prst="roundRect">
            <a:avLst/>
          </a:prstGeom>
          <a:solidFill>
            <a:srgbClr val="EAF2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783080"/>
            <a:ext cx="91440" cy="166420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929384"/>
            <a:ext cx="4754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1736"/>
                </a:solidFill>
                <a:latin typeface="TH Sarabun New"/>
              </a:rPr>
              <a:t>Gate 2 · Technical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331720"/>
            <a:ext cx="473659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64748B"/>
                </a:solidFill>
                <a:latin typeface="TH Sarabun New"/>
              </a:rPr>
              <a:t>Regression 25/25 · PR develop→main · CI · Tech Lead merge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85032"/>
            <a:ext cx="5358384" cy="1664208"/>
          </a:xfrm>
          <a:prstGeom prst="roundRect">
            <a:avLst/>
          </a:prstGeom>
          <a:solidFill>
            <a:srgbClr val="F3EE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685032"/>
            <a:ext cx="91440" cy="166420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31336"/>
            <a:ext cx="4754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1736"/>
                </a:solidFill>
                <a:latin typeface="TH Sarabun New"/>
              </a:rPr>
              <a:t>Gate 3 · Release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233672"/>
            <a:ext cx="473659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64748B"/>
                </a:solidFill>
                <a:latin typeface="TH Sarabun New"/>
              </a:rPr>
              <a:t>Merge main · annotated tag · release note · Final EVM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685032"/>
            <a:ext cx="5358384" cy="1664208"/>
          </a:xfrm>
          <a:prstGeom prst="roundRect">
            <a:avLst/>
          </a:prstGeom>
          <a:solidFill>
            <a:srgbClr val="E6F7FA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685032"/>
            <a:ext cx="91440" cy="1664208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3831336"/>
            <a:ext cx="4754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B1736"/>
                </a:solidFill>
                <a:latin typeface="TH Sarabun New"/>
              </a:rPr>
              <a:t>CHANGELOG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4233672"/>
            <a:ext cx="473659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64748B"/>
                </a:solidFill>
                <a:latin typeface="TH Sarabun New"/>
              </a:rPr>
              <a:t>Added Barcode/ROP/CSV · Changed schema/menu · Fixed BUG-101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0352" y="6455664"/>
            <a:ext cx="11128248" cy="0"/>
          </a:xfrm>
          <a:prstGeom prst="line">
            <a:avLst/>
          </a:prstGeom>
          <a:ln w="1016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30352" y="6473952"/>
            <a:ext cx="9875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TH Sarabun New"/>
              </a:rPr>
              <a:t>Source: Phase4/Sprint4/sprint4.md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55664"/>
            <a:ext cx="640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15803D"/>
                </a:solidFill>
                <a:latin typeface="TH Sarabun New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5803D"/>
                </a:solidFill>
                <a:latin typeface="TH Sarabun New"/>
              </a:rPr>
              <a:t>SPRINT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0B1736"/>
                </a:solidFill>
                <a:latin typeface="TH Sarabun New"/>
              </a:rPr>
              <a:t>Sprint Review &amp;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97280"/>
            <a:ext cx="10881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TH Sarabun New"/>
              </a:rPr>
              <a:t>สิ่งที่ยืนยันได้จากหลักฐาน และสิ่งที่ส่งต่อไปยังรอบถัดไป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490472"/>
            <a:ext cx="11128248" cy="0"/>
          </a:xfrm>
          <a:prstGeom prst="line">
            <a:avLst/>
          </a:prstGeom>
          <a:ln w="1524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783080"/>
            <a:ext cx="3493008" cy="4297680"/>
          </a:xfrm>
          <a:prstGeom prst="roundRect">
            <a:avLst/>
          </a:prstGeom>
          <a:solidFill>
            <a:srgbClr val="EAF7EE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011680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5803D"/>
                </a:solidFill>
                <a:latin typeface="TH Sarabun New"/>
              </a:rPr>
              <a:t>ส่งมอบแล้ว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2542032"/>
            <a:ext cx="2971800" cy="2971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v2.0.0-evolution พร้อม tag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25 regression tests ผ่าน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UAT 3 scenarios ผ่านทางเทคนิค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783080"/>
            <a:ext cx="3493008" cy="4297680"/>
          </a:xfrm>
          <a:prstGeom prst="roundRect">
            <a:avLst/>
          </a:prstGeom>
          <a:solidFill>
            <a:srgbClr val="FDECEC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2011680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B91C1C"/>
                </a:solidFill>
                <a:latin typeface="TH Sarabun New"/>
              </a:rPr>
              <a:t>ความเสี่ยง/ข้อจำกัด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542032"/>
            <a:ext cx="2971800" cy="2971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Formal UAT sign-off ยังว่าง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Legacy data ยังเป็น fallback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SQLite/Member ยังไม่ได้ implement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783080"/>
            <a:ext cx="3493008" cy="4297680"/>
          </a:xfrm>
          <a:prstGeom prst="roundRect">
            <a:avLst/>
          </a:prstGeom>
          <a:solidFill>
            <a:srgbClr val="EAF2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8744" y="2011680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5803D"/>
                </a:solidFill>
                <a:latin typeface="TH Sarabun New"/>
              </a:rPr>
              <a:t>งานส่งต่อ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2542032"/>
            <a:ext cx="2971800" cy="2971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พัฒนา SQLite + Member + Checkout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แก้ E501 ในโค้ดสด</a:t>
            </a:r>
          </a:p>
          <a:p>
            <a:pPr>
              <a:lnSpc>
                <a:spcPct val="110000"/>
              </a:lnSpc>
              <a:spcAft>
                <a:spcPts val="1100"/>
              </a:spcAft>
              <a:defRPr sz="1310">
                <a:solidFill>
                  <a:srgbClr val="111827"/>
                </a:solidFill>
                <a:latin typeface="TH Sarabun New"/>
              </a:defRPr>
            </a:pPr>
            <a:r>
              <a:t>• ต่อยอดเป็น Desktop UI โดย reuse domain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0352" y="6455664"/>
            <a:ext cx="11128248" cy="0"/>
          </a:xfrm>
          <a:prstGeom prst="line">
            <a:avLst/>
          </a:prstGeom>
          <a:ln w="1016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30352" y="6473952"/>
            <a:ext cx="9875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TH Sarabun New"/>
              </a:rPr>
              <a:t>Source: Phase4/Sprint4/sprint4.md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640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15803D"/>
                </a:solidFill>
                <a:latin typeface="TH Sarabun New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